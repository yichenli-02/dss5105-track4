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81b383a5474667" /><Relationship Type="http://schemas.openxmlformats.org/officeDocument/2006/relationships/extended-properties" Target="/docProps/app.xml" Id="R84bc0730b9464b40" /><Relationship Type="http://schemas.openxmlformats.org/officeDocument/2006/relationships/officeDocument" Target="/ppt/presentation.xml" Id="R28c3252e804b4cb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610db65cc94408"/>
  </p:sldMasterIdLst>
  <p:notesMasterIdLst>
    <p:notesMasterId xmlns:r="http://schemas.openxmlformats.org/officeDocument/2006/relationships" r:id="R87fca7ecf564449b"/>
  </p:notesMasterIdLst>
  <p:sldIdLst>
    <p:sldId xmlns:r="http://schemas.openxmlformats.org/officeDocument/2006/relationships" id="256" r:id="Rdecfdae3652a4e93"/>
    <p:sldId xmlns:r="http://schemas.openxmlformats.org/officeDocument/2006/relationships" id="257" r:id="R1d7e7dece3244404"/>
    <p:sldId xmlns:r="http://schemas.openxmlformats.org/officeDocument/2006/relationships" id="258" r:id="Rf01cb7698d0e405b"/>
    <p:sldId xmlns:r="http://schemas.openxmlformats.org/officeDocument/2006/relationships" id="259" r:id="R9ac0af17b33d4a6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d90d90b11e4b6c" /><Relationship Type="http://schemas.openxmlformats.org/officeDocument/2006/relationships/slideMaster" Target="/ppt/slideMasters/slideMaster1.xml" Id="Rbd610db65cc94408" /><Relationship Type="http://schemas.openxmlformats.org/officeDocument/2006/relationships/notesMaster" Target="/ppt/notesMasters/notesMaster1.xml" Id="R87fca7ecf564449b" /><Relationship Type="http://schemas.openxmlformats.org/officeDocument/2006/relationships/presProps" Target="/ppt/presProps.xml" Id="Rb80f5495545b49a5" /><Relationship Type="http://schemas.openxmlformats.org/officeDocument/2006/relationships/tableStyles" Target="/ppt/tableStyles.xml" Id="Rc8489f9bc2ef4b16" /><Relationship Type="http://schemas.openxmlformats.org/officeDocument/2006/relationships/slide" Target="/ppt/slides/slide1.xml" Id="Rdecfdae3652a4e93" /><Relationship Type="http://schemas.openxmlformats.org/officeDocument/2006/relationships/slide" Target="/ppt/slides/slide2.xml" Id="R1d7e7dece3244404" /><Relationship Type="http://schemas.openxmlformats.org/officeDocument/2006/relationships/slide" Target="/ppt/slides/slide3.xml" Id="Rf01cb7698d0e405b" /><Relationship Type="http://schemas.openxmlformats.org/officeDocument/2006/relationships/slide" Target="/ppt/slides/slide4.xml" Id="R9ac0af17b33d4a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9bb51f659b45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35fb53bcb0459a" /><Relationship Type="http://schemas.openxmlformats.org/officeDocument/2006/relationships/notesMaster" Target="/ppt/notesMasters/notesMaster1.xml" Id="Rdfdbbbcbfbd64ae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f68ed612674e02" /><Relationship Type="http://schemas.openxmlformats.org/officeDocument/2006/relationships/notesMaster" Target="/ppt/notesMasters/notesMaster1.xml" Id="Rbb3caaaddee04a6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8d80066c8b1402d" /><Relationship Type="http://schemas.openxmlformats.org/officeDocument/2006/relationships/notesMaster" Target="/ppt/notesMasters/notesMaster1.xml" Id="R9c9514548473403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117e6525ce140f5" /><Relationship Type="http://schemas.openxmlformats.org/officeDocument/2006/relationships/notesMaster" Target="/ppt/notesMasters/notesMaster1.xml" Id="Rd446bab2131547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Capstone_Project_Spec_v5.pdf, pages 2-3. This is a proposed local view of the team architecture. Team confirmation and Graph permissions are pending. Member 4 owns planning rules and reference cases, Member 5 owns implementation.</a:t>
            </a:r>
          </a:p>
          <a:p xmlns:a="http://schemas.openxmlformats.org/drawingml/2006/main">
            <a:r>
              <a:t>中文：任务经学生确认后，规则工具才安排时间。收益是减少手排和重排，尚未测量节省分钟数。此页合入整组问题、方案与价值部分。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sprint1/reference_cases.json and reference_case_checks.json. All cases use synthetic data. Five manually authored plans pass an independent constraint check. Five intentionally corrupted outputs trigger expected errors. These are not generated scheduler outputs, held-out results, real system failures or a user study. Normal buffers: A 31h, B 33.5h, C 26h.</a:t>
            </a:r>
          </a:p>
          <a:p xmlns:a="http://schemas.openxmlformats.org/drawingml/2006/main">
            <a:r>
              <a:t>中文：准确描述当前进展，不报100%排程准确率。自动排程尚未实现。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Capstone_Project_Spec_v5.pdf pages 3 and 5. Sprint 2 materials due 30 Oct 2026 15:00, session 19:00. Track 4 permits evaluation of equivalent rigour. Proposed unseen-set categories: 4 normal, 4 capacity shortage, 4 calendar/load, 4 missing-input, 4 replanning. Current 5 development fixtures must not become held-out results. Team should confirm dates, owners and criteria before presenting.</a:t>
            </a:r>
          </a:p>
          <a:p xmlns:a="http://schemas.openxmlformats.org/drawingml/2006/main">
            <a:r>
              <a:t>中文：与5号确认开发排期。冻结规则后由6号准备独立测试，若用于调参就另建测试集。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reference_cases.json normal_week and capacity_shortage. A due Thu 15 Oct 18:00 (4h), B due Wed 14 Oct 20:00 (1.5h), C due Fri 16 Oct 12:00 (2h). Reference daily loads: 1.5,3,2,1 hours. This slide is a Q&amp;A backup and is excluded from the proposed 60-90 second main contribution.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3f3a56cbb74f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4d41cac7aa74e0d" /><Relationship Type="http://schemas.openxmlformats.org/officeDocument/2006/relationships/slideLayout" Target="/ppt/slideLayouts/slideLayout1.xml" Id="Raa7875bfc2cb437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7875bfc2cb43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8ebd25a8ce4434" /><Relationship Type="http://schemas.openxmlformats.org/officeDocument/2006/relationships/notesSlide" Target="/ppt/notesSlides/notesSlide1.xml" Id="R0b193da354fc4d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a46272081e40fc" /><Relationship Type="http://schemas.openxmlformats.org/officeDocument/2006/relationships/notesSlide" Target="/ppt/notesSlides/notesSlide2.xml" Id="Reaffdc79756f46f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bd2fa8a2c54495" /><Relationship Type="http://schemas.openxmlformats.org/officeDocument/2006/relationships/notesSlide" Target="/ppt/notesSlides/notesSlide3.xml" Id="Rb7963e9c5da74ba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862c2291864eb8" /><Relationship Type="http://schemas.openxmlformats.org/officeDocument/2006/relationships/notesSlide" Target="/ppt/notesSlides/notesSlide4.xml" Id="R2fc6b64bf1a543b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0757F3-70AF-4C00-9903-F04C0C6AE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52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52D"/>
                </a:solidFill>
                <a:latin typeface="Arial"/>
                <a:ea typeface="Arial"/>
                <a:cs typeface="Arial"/>
              </a:rPr>
              <a:t>Study planning in the agent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04A9DF-445B-4836-ADC9-EDF28CC6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7252D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17252D"/>
                </a:solidFill>
                <a:latin typeface="Arial"/>
                <a:ea typeface="Arial"/>
                <a:cs typeface="Arial"/>
              </a:rPr>
              <a:t>Students still need to fit confirmed deadlines into a realistic week.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F7BA3F-64BA-4702-A331-C1CE63B9D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1809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7"/>
          </a:solidFill>
          <a:ln xmlns:a="http://schemas.openxmlformats.org/drawingml/2006/main" w="15240">
            <a:solidFill>
              <a:srgbClr val="9CAAB0"/>
            </a:solidFill>
          </a:ln>
        </p:spPr>
        <p:txBody>
          <a:bodyPr xmlns:a="http://schemas.openxmlformats.org/drawingml/2006/main" lIns="85725" tIns="76200" rIns="85725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725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2D"/>
                </a:solidFill>
                <a:latin typeface="Arial"/>
                <a:ea typeface="Arial"/>
                <a:cs typeface="Arial"/>
              </a:rPr>
              <a:t>Source text</a:t>
            </a:r>
          </a:p>
          <a:p xmlns:a="http://schemas.openxmlformats.org/drawingml/2006/main">
            <a:pPr algn="ctr">
              <a:defRPr sz="1725" b="0">
                <a:solidFill>
                  <a:srgbClr val="1725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2D"/>
                </a:solidFill>
                <a:latin typeface="Arial"/>
                <a:ea typeface="Arial"/>
                <a:cs typeface="Arial"/>
              </a:rPr>
              <a:t>Paste or PDF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80FDB9-EAC6-4B2C-BAFB-B5FD1597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400300"/>
            <a:ext cx="1809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7"/>
          </a:solidFill>
          <a:ln xmlns:a="http://schemas.openxmlformats.org/drawingml/2006/main" w="15240">
            <a:solidFill>
              <a:srgbClr val="9CAAB0"/>
            </a:solidFill>
          </a:ln>
        </p:spPr>
        <p:txBody>
          <a:bodyPr xmlns:a="http://schemas.openxmlformats.org/drawingml/2006/main" lIns="85725" tIns="76200" rIns="85725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725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2D"/>
                </a:solidFill>
                <a:latin typeface="Arial"/>
                <a:ea typeface="Arial"/>
                <a:cs typeface="Arial"/>
              </a:rPr>
              <a:t>LLM task</a:t>
            </a:r>
          </a:p>
          <a:p xmlns:a="http://schemas.openxmlformats.org/drawingml/2006/main">
            <a:pPr algn="ctr">
              <a:defRPr sz="1725" b="0">
                <a:solidFill>
                  <a:srgbClr val="1725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2D"/>
                </a:solidFill>
                <a:latin typeface="Arial"/>
                <a:ea typeface="Arial"/>
                <a:cs typeface="Arial"/>
              </a:rPr>
              <a:t>extraction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5AB319-5FDF-4E4C-96AB-79BBCA654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00300"/>
            <a:ext cx="1809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7"/>
          </a:solidFill>
          <a:ln xmlns:a="http://schemas.openxmlformats.org/drawingml/2006/main" w="15240">
            <a:solidFill>
              <a:srgbClr val="9CAAB0"/>
            </a:solidFill>
          </a:ln>
        </p:spPr>
        <p:txBody>
          <a:bodyPr xmlns:a="http://schemas.openxmlformats.org/drawingml/2006/main" lIns="85725" tIns="76200" rIns="85725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725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2D"/>
                </a:solidFill>
                <a:latin typeface="Arial"/>
                <a:ea typeface="Arial"/>
                <a:cs typeface="Arial"/>
              </a:rPr>
              <a:t>Student</a:t>
            </a:r>
          </a:p>
          <a:p xmlns:a="http://schemas.openxmlformats.org/drawingml/2006/main">
            <a:pPr algn="ctr">
              <a:defRPr sz="1725" b="0">
                <a:solidFill>
                  <a:srgbClr val="1725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2D"/>
                </a:solidFill>
                <a:latin typeface="Arial"/>
                <a:ea typeface="Arial"/>
                <a:cs typeface="Arial"/>
              </a:rPr>
              <a:t>confirmation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C260CD-CE82-47B3-A3EA-3FE835B1A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400300"/>
            <a:ext cx="1809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0"/>
          </a:solidFill>
          <a:ln xmlns:a="http://schemas.openxmlformats.org/drawingml/2006/main" w="15240">
            <a:solidFill>
              <a:srgbClr val="167A62"/>
            </a:solidFill>
          </a:ln>
        </p:spPr>
        <p:txBody>
          <a:bodyPr xmlns:a="http://schemas.openxmlformats.org/drawingml/2006/main" lIns="85725" tIns="76200" rIns="85725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5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2D"/>
                </a:solidFill>
                <a:latin typeface="Arial"/>
                <a:ea typeface="Arial"/>
                <a:cs typeface="Arial"/>
              </a:rPr>
              <a:t>Rules planner</a:t>
            </a:r>
          </a:p>
          <a:p xmlns:a="http://schemas.openxmlformats.org/drawingml/2006/main">
            <a:pPr algn="ctr">
              <a:defRPr sz="1725" b="1">
                <a:solidFill>
                  <a:srgbClr val="1725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2D"/>
                </a:solidFill>
                <a:latin typeface="Arial"/>
                <a:ea typeface="Arial"/>
                <a:cs typeface="Arial"/>
              </a:rPr>
              <a:t>Member 4 /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4F42C1-E83B-41D9-B22C-E048FFDD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400300"/>
            <a:ext cx="1809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7"/>
          </a:solidFill>
          <a:ln xmlns:a="http://schemas.openxmlformats.org/drawingml/2006/main" w="15240">
            <a:solidFill>
              <a:srgbClr val="9CAAB0"/>
            </a:solidFill>
          </a:ln>
        </p:spPr>
        <p:txBody>
          <a:bodyPr xmlns:a="http://schemas.openxmlformats.org/drawingml/2006/main" lIns="85725" tIns="76200" rIns="85725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725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2D"/>
                </a:solidFill>
                <a:latin typeface="Arial"/>
                <a:ea typeface="Arial"/>
                <a:cs typeface="Arial"/>
              </a:rPr>
              <a:t>Plan preview</a:t>
            </a:r>
          </a:p>
          <a:p xmlns:a="http://schemas.openxmlformats.org/drawingml/2006/main">
            <a:pPr algn="ctr">
              <a:defRPr sz="1725" b="0">
                <a:solidFill>
                  <a:srgbClr val="1725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2D"/>
                </a:solidFill>
                <a:latin typeface="Arial"/>
                <a:ea typeface="Arial"/>
                <a:cs typeface="Arial"/>
              </a:rPr>
              <a:t>Then save</a:t>
            </a:r>
          </a:p>
        </p:txBody>
      </p:sp>
      <p:cxnSp>
        <p:nvCxnSpPr>
          <p:cNvPr id="23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419350" y="28765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36C"/>
            </a:solidFill>
            <a:tailEnd type="arrow" w="med" len="med"/>
          </a:ln>
        </p:spPr>
      </p:cxnSp>
      <p:cxnSp>
        <p:nvCxnSpPr>
          <p:cNvPr id="24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4705350" y="28765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36C"/>
            </a:solidFill>
            <a:tailEnd type="arrow" w="med" len="med"/>
          </a:ln>
        </p:spPr>
      </p:cxnSp>
      <p:cxnSp>
        <p:nvCxnSpPr>
          <p:cNvPr id="25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991350" y="28765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36C"/>
            </a:solidFill>
            <a:tailEnd type="arrow" w="med" len="med"/>
          </a:ln>
        </p:spPr>
      </p:cxnSp>
      <p:cxnSp>
        <p:nvCxnSpPr>
          <p:cNvPr id="26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277350" y="28765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36C"/>
            </a:solidFill>
            <a:tailEnd type="arrow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A8705E-DFC5-4702-A104-896DB828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952875"/>
            <a:ext cx="1809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7"/>
          </a:solidFill>
          <a:ln xmlns:a="http://schemas.openxmlformats.org/drawingml/2006/main" w="15240">
            <a:solidFill>
              <a:srgbClr val="9CAAB0"/>
            </a:solidFill>
          </a:ln>
        </p:spPr>
        <p:txBody>
          <a:bodyPr xmlns:a="http://schemas.openxmlformats.org/drawingml/2006/main" lIns="85725" tIns="76200" rIns="85725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725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2D"/>
                </a:solidFill>
                <a:latin typeface="Arial"/>
                <a:ea typeface="Arial"/>
                <a:cs typeface="Arial"/>
              </a:rPr>
              <a:t>Availability</a:t>
            </a:r>
          </a:p>
          <a:p xmlns:a="http://schemas.openxmlformats.org/drawingml/2006/main">
            <a:pPr algn="ctr">
              <a:defRPr sz="1725" b="0">
                <a:solidFill>
                  <a:srgbClr val="1725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2D"/>
                </a:solidFill>
                <a:latin typeface="Arial"/>
                <a:ea typeface="Arial"/>
                <a:cs typeface="Arial"/>
              </a:rPr>
              <a:t>+ busy intervals</a:t>
            </a:r>
          </a:p>
        </p:txBody>
      </p:sp>
      <p:cxnSp>
        <p:nvCxnSpPr>
          <p:cNvPr id="28" name=""/>
          <p:cNvCxnSpPr>
            <a:stCxn xmlns:a="http://schemas.openxmlformats.org/drawingml/2006/main" id="12" idx="0"/>
            <a:endCxn xmlns:a="http://schemas.openxmlformats.org/drawingml/2006/main" id="6" idx="2"/>
          </p:cNvCxnSpPr>
          <p:nvPr/>
        </p:nvCxnSpPr>
        <p:spPr>
          <a:xfrm xmlns:a="http://schemas.openxmlformats.org/drawingml/2006/main" flipV="1">
            <a:off x="8372475" y="3352800"/>
            <a:ext cx="0" cy="6000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36C"/>
            </a:solidFill>
            <a:tailEnd type="arrow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3CCEC0-A8E6-4979-84A9-DDCEBCEA2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52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2D"/>
                </a:solidFill>
                <a:latin typeface="Arial"/>
                <a:ea typeface="Arial"/>
                <a:cs typeface="Arial"/>
              </a:rPr>
              <a:t>Student value: less manual replanning and earlier visibility of capacity gaps.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868AB5-53A3-4F2D-90F2-A9666B75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36C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2636C"/>
                </a:solidFill>
                <a:latin typeface="Arial"/>
                <a:ea typeface="Arial"/>
                <a:cs typeface="Arial"/>
              </a:rPr>
              <a:t>Proposed design. Time savings remain to be measured. Calendar availability starts with manual input.</a:t>
            </a:r>
          </a:p>
        </p:txBody>
      </p:sp>
    </p:spTree>
    <p:extLst>
      <p:ext uri="{BB962C8B-B14F-4D97-AF65-F5344CB8AC3E}">
        <p14:creationId xmlns:p14="http://schemas.microsoft.com/office/powerpoint/2010/main" val="16767737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CA6EA0-E40A-4C7C-AAC9-171499906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52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52D"/>
                </a:solidFill>
                <a:latin typeface="Arial"/>
                <a:ea typeface="Arial"/>
                <a:cs typeface="Arial"/>
              </a:rPr>
              <a:t>Sprint 1 evidence, risks and assumptions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323975"/>
          <a:ext xmlns:a="http://schemas.openxmlformats.org/drawingml/2006/main" cx="10972800" cy="2533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4191000"/>
                <a:gridCol w="4114800"/>
              </a:tblGrid>
              <a:tr h="63341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Development evidence</a:t>
                      </a:r>
                    </a:p>
                  </a:txBody>
                  <a:tcPr marL="133350" marR="114300" marT="95250" marB="76200" anchor="ctr">
                    <a:solidFill>
                      <a:srgbClr val="1725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Reference result</a:t>
                      </a:r>
                    </a:p>
                  </a:txBody>
                  <a:tcPr marL="133350" marR="114300" marT="95250" marB="76200" anchor="ctr">
                    <a:solidFill>
                      <a:srgbClr val="1725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Scope</a:t>
                      </a:r>
                    </a:p>
                  </a:txBody>
                  <a:tcPr marL="133350" marR="114300" marT="95250" marB="76200" anchor="ctr">
                    <a:solidFill>
                      <a:srgbClr val="17252D"/>
                    </a:solidFill>
                  </a:tcPr>
                </a:tc>
              </a:tr>
              <a:tr h="6334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52D"/>
                          </a:solidFill>
                          <a:latin typeface="Arial"/>
                          <a:ea typeface="Arial"/>
                          <a:cs typeface="Arial"/>
                        </a:rPr>
                        <a:t>Normal week</a:t>
                      </a:r>
                    </a:p>
                  </a:txBody>
                  <a:tcPr marL="133350" marR="114300" marT="95250" marB="76200" anchor="ctr"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52D"/>
                          </a:solidFill>
                          <a:latin typeface="Arial"/>
                          <a:ea typeface="Arial"/>
                          <a:cs typeface="Arial"/>
                        </a:rPr>
                        <a:t>7.5 hours scheduled</a:t>
                      </a:r>
                    </a:p>
                    <a:p>
                      <a:r>
                        <a:rPr sz="1725" b="0">
                          <a:solidFill>
                            <a:srgbClr val="17252D"/>
                          </a:solidFill>
                          <a:latin typeface="Arial"/>
                          <a:ea typeface="Arial"/>
                          <a:cs typeface="Arial"/>
                        </a:rPr>
                        <a:t>Minimum buffer: 26 hours</a:t>
                      </a:r>
                    </a:p>
                  </a:txBody>
                  <a:tcPr marL="133350" marR="114300" marT="95250" marB="76200" anchor="ctr"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52D"/>
                          </a:solidFill>
                          <a:latin typeface="Arial"/>
                          <a:ea typeface="Arial"/>
                          <a:cs typeface="Arial"/>
                        </a:rPr>
                        <a:t>Manual reference plan</a:t>
                      </a:r>
                    </a:p>
                  </a:txBody>
                  <a:tcPr marL="133350" marR="114300" marT="95250" marB="76200" anchor="ctr">
                    <a:solidFill>
                      <a:srgbClr val="F4F7F7"/>
                    </a:solidFill>
                  </a:tcPr>
                </a:tc>
              </a:tr>
              <a:tr h="6334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52D"/>
                          </a:solidFill>
                          <a:latin typeface="Arial"/>
                          <a:ea typeface="Arial"/>
                          <a:cs typeface="Arial"/>
                        </a:rPr>
                        <a:t>Capacity shortage</a:t>
                      </a:r>
                    </a:p>
                  </a:txBody>
                  <a:tcPr marL="13335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52D"/>
                          </a:solidFill>
                          <a:latin typeface="Arial"/>
                          <a:ea typeface="Arial"/>
                          <a:cs typeface="Arial"/>
                        </a:rPr>
                        <a:t>9 hours needed, 3 available</a:t>
                      </a:r>
                    </a:p>
                    <a:p>
                      <a:r>
                        <a:rPr sz="1725" b="0">
                          <a:solidFill>
                            <a:srgbClr val="17252D"/>
                          </a:solidFill>
                          <a:latin typeface="Arial"/>
                          <a:ea typeface="Arial"/>
                          <a:cs typeface="Arial"/>
                        </a:rPr>
                        <a:t>6 hours explicitly unscheduled</a:t>
                      </a:r>
                    </a:p>
                  </a:txBody>
                  <a:tcPr marL="13335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52D"/>
                          </a:solidFill>
                          <a:latin typeface="Arial"/>
                          <a:ea typeface="Arial"/>
                          <a:cs typeface="Arial"/>
                        </a:rPr>
                        <a:t>Provable capacity shortage</a:t>
                      </a:r>
                    </a:p>
                  </a:txBody>
                  <a:tcPr marL="133350" marR="114300" marT="95250" marB="76200" anchor="ctr">
                    <a:solidFill>
                      <a:srgbClr val="FFFFFF"/>
                    </a:solidFill>
                  </a:tcPr>
                </a:tc>
              </a:tr>
              <a:tr h="6334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52D"/>
                          </a:solidFill>
                          <a:latin typeface="Arial"/>
                          <a:ea typeface="Arial"/>
                          <a:cs typeface="Arial"/>
                        </a:rPr>
                        <a:t>Reference checks</a:t>
                      </a:r>
                    </a:p>
                  </a:txBody>
                  <a:tcPr marL="133350" marR="114300" marT="95250" marB="76200" anchor="ctr"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52D"/>
                          </a:solidFill>
                          <a:latin typeface="Arial"/>
                          <a:ea typeface="Arial"/>
                          <a:cs typeface="Arial"/>
                        </a:rPr>
                        <a:t>5 plans pass</a:t>
                      </a:r>
                    </a:p>
                    <a:p>
                      <a:r>
                        <a:rPr sz="1725" b="0">
                          <a:solidFill>
                            <a:srgbClr val="17252D"/>
                          </a:solidFill>
                          <a:latin typeface="Arial"/>
                          <a:ea typeface="Arial"/>
                          <a:cs typeface="Arial"/>
                        </a:rPr>
                        <a:t>5 intentional errors detected</a:t>
                      </a:r>
                    </a:p>
                  </a:txBody>
                  <a:tcPr marL="133350" marR="114300" marT="95250" marB="76200" anchor="ctr"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52D"/>
                          </a:solidFill>
                          <a:latin typeface="Arial"/>
                          <a:ea typeface="Arial"/>
                          <a:cs typeface="Arial"/>
                        </a:rPr>
                        <a:t>Development fixtures only</a:t>
                      </a:r>
                    </a:p>
                  </a:txBody>
                  <a:tcPr marL="133350" marR="114300" marT="95250" marB="76200" anchor="ctr">
                    <a:solidFill>
                      <a:srgbClr val="F4F7F7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50EE2A-585A-479A-B475-9E2751E1A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67A6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7A62"/>
                </a:solidFill>
                <a:latin typeface="Arial"/>
                <a:ea typeface="Arial"/>
                <a:cs typeface="Arial"/>
              </a:rPr>
              <a:t>Planning risks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8A37FA-4EDC-4ED0-A8C0-4D054EA4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00575"/>
            <a:ext cx="5334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52D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252D"/>
                </a:solidFill>
                <a:latin typeface="Arial"/>
                <a:ea typeface="Arial"/>
                <a:cs typeface="Arial"/>
              </a:rPr>
              <a:t>Wrong date: confirm before scheduling</a:t>
            </a:r>
          </a:p>
          <a:p xmlns:a="http://schemas.openxmlformats.org/drawingml/2006/main">
            <a:pPr>
              <a:defRPr sz="1800">
                <a:solidFill>
                  <a:srgbClr val="17252D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252D"/>
                </a:solidFill>
                <a:latin typeface="Arial"/>
                <a:ea typeface="Arial"/>
                <a:cs typeface="Arial"/>
              </a:rPr>
              <a:t>Missing calendar: allow manual input</a:t>
            </a:r>
          </a:p>
          <a:p xmlns:a="http://schemas.openxmlformats.org/drawingml/2006/main">
            <a:pPr>
              <a:defRPr sz="1800">
                <a:solidFill>
                  <a:srgbClr val="17252D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252D"/>
                </a:solidFill>
                <a:latin typeface="Arial"/>
                <a:ea typeface="Arial"/>
                <a:cs typeface="Arial"/>
              </a:rPr>
              <a:t>Insufficient time: show the deficit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473663-54AA-482D-8968-8D45C9C37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24325"/>
            <a:ext cx="506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67A6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7A62"/>
                </a:solidFill>
                <a:latin typeface="Arial"/>
                <a:ea typeface="Arial"/>
                <a:cs typeface="Arial"/>
              </a:rPr>
              <a:t>Assumptions to verify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4EEEF7-5754-4513-AB65-738A534F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600575"/>
            <a:ext cx="50673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52D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252D"/>
                </a:solidFill>
                <a:latin typeface="Arial"/>
                <a:ea typeface="Arial"/>
                <a:cs typeface="Arial"/>
              </a:rPr>
              <a:t>Students confirm dates and effort</a:t>
            </a:r>
          </a:p>
          <a:p xmlns:a="http://schemas.openxmlformats.org/drawingml/2006/main">
            <a:pPr>
              <a:defRPr sz="1800">
                <a:solidFill>
                  <a:srgbClr val="17252D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252D"/>
                </a:solidFill>
                <a:latin typeface="Arial"/>
                <a:ea typeface="Arial"/>
                <a:cs typeface="Arial"/>
              </a:rPr>
              <a:t>Study tasks can usually be split</a:t>
            </a:r>
          </a:p>
          <a:p xmlns:a="http://schemas.openxmlformats.org/drawingml/2006/main">
            <a:pPr>
              <a:defRPr sz="1800">
                <a:solidFill>
                  <a:srgbClr val="17252D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252D"/>
                </a:solidFill>
                <a:latin typeface="Arial"/>
                <a:ea typeface="Arial"/>
                <a:cs typeface="Arial"/>
              </a:rPr>
              <a:t>Free time reflects willingness to study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C028B5-1F35-41B7-B696-7BA63A63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36C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2636C"/>
                </a:solidFill>
                <a:latin typeface="Arial"/>
                <a:ea typeface="Arial"/>
                <a:cs typeface="Arial"/>
              </a:rPr>
              <a:t>Completed: rule design and reference checks. Planned: scheduler, calendar integration and user evaluation.</a:t>
            </a:r>
          </a:p>
        </p:txBody>
      </p:sp>
    </p:spTree>
    <p:extLst>
      <p:ext uri="{BB962C8B-B14F-4D97-AF65-F5344CB8AC3E}">
        <p14:creationId xmlns:p14="http://schemas.microsoft.com/office/powerpoint/2010/main" val="12082057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81EC18-6F6C-429A-A6EB-58BF013E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52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52D"/>
                </a:solidFill>
                <a:latin typeface="Arial"/>
                <a:ea typeface="Arial"/>
                <a:cs typeface="Arial"/>
              </a:rPr>
              <a:t>Sprint 2 development and success criteria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C38A15-73D9-4CDA-B3A2-9D63A9721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7252D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7252D"/>
                </a:solidFill>
                <a:latin typeface="Arial"/>
                <a:ea typeface="Arial"/>
                <a:cs typeface="Arial"/>
              </a:rPr>
              <a:t>The module will generate a preview before the student saves it.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990725"/>
          <a:ext xmlns:a="http://schemas.openxmlformats.org/drawingml/2006/main" cx="10972800" cy="3105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33600"/>
                <a:gridCol w="6076950"/>
                <a:gridCol w="2762250"/>
              </a:tblGrid>
              <a:tr h="62103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Dates</a:t>
                      </a:r>
                    </a:p>
                  </a:txBody>
                  <a:tcPr marL="133350" marR="114300" marT="95250" marB="76200" anchor="ctr">
                    <a:solidFill>
                      <a:srgbClr val="1725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Deliverable</a:t>
                      </a:r>
                    </a:p>
                  </a:txBody>
                  <a:tcPr marL="133350" marR="114300" marT="95250" marB="76200" anchor="ctr">
                    <a:solidFill>
                      <a:srgbClr val="1725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Owners</a:t>
                      </a:r>
                    </a:p>
                  </a:txBody>
                  <a:tcPr marL="133350" marR="114300" marT="95250" marB="76200" anchor="ctr">
                    <a:solidFill>
                      <a:srgbClr val="17252D"/>
                    </a:solidFill>
                  </a:tcPr>
                </a:tc>
              </a:tr>
              <a:tr h="62103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52D"/>
                          </a:solidFill>
                          <a:latin typeface="Arial"/>
                          <a:ea typeface="Arial"/>
                          <a:cs typeface="Arial"/>
                        </a:rPr>
                        <a:t>17-20 Oct</a:t>
                      </a:r>
                    </a:p>
                  </a:txBody>
                  <a:tcPr marL="133350" marR="114300" marT="95250" marB="76200" anchor="ctr"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52D"/>
                          </a:solidFill>
                          <a:latin typeface="Arial"/>
                          <a:ea typeface="Arial"/>
                          <a:cs typeface="Arial"/>
                        </a:rPr>
                        <a:t>Scheduling function and input checks</a:t>
                      </a:r>
                    </a:p>
                  </a:txBody>
                  <a:tcPr marL="133350" marR="114300" marT="95250" marB="76200" anchor="ctr"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52D"/>
                          </a:solidFill>
                          <a:latin typeface="Arial"/>
                          <a:ea typeface="Arial"/>
                          <a:cs typeface="Arial"/>
                        </a:rPr>
                        <a:t>4 rules / 5 code</a:t>
                      </a:r>
                    </a:p>
                  </a:txBody>
                  <a:tcPr marL="133350" marR="114300" marT="95250" marB="76200" anchor="ctr">
                    <a:solidFill>
                      <a:srgbClr val="F4F7F7"/>
                    </a:solidFill>
                  </a:tcPr>
                </a:tc>
              </a:tr>
              <a:tr h="62103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52D"/>
                          </a:solidFill>
                          <a:latin typeface="Arial"/>
                          <a:ea typeface="Arial"/>
                          <a:cs typeface="Arial"/>
                        </a:rPr>
                        <a:t>21-24 Oct</a:t>
                      </a:r>
                    </a:p>
                  </a:txBody>
                  <a:tcPr marL="13335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52D"/>
                          </a:solidFill>
                          <a:latin typeface="Arial"/>
                          <a:ea typeface="Arial"/>
                          <a:cs typeface="Arial"/>
                        </a:rPr>
                        <a:t>Replanning, locked blocks and preview</a:t>
                      </a:r>
                    </a:p>
                  </a:txBody>
                  <a:tcPr marL="13335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52D"/>
                          </a:solidFill>
                          <a:latin typeface="Arial"/>
                          <a:ea typeface="Arial"/>
                          <a:cs typeface="Arial"/>
                        </a:rPr>
                        <a:t>4 / 5 with 1</a:t>
                      </a:r>
                    </a:p>
                  </a:txBody>
                  <a:tcPr marL="133350" marR="114300" marT="95250" marB="76200" anchor="ctr">
                    <a:solidFill>
                      <a:srgbClr val="FFFFFF"/>
                    </a:solidFill>
                  </a:tcPr>
                </a:tc>
              </a:tr>
              <a:tr h="62103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52D"/>
                          </a:solidFill>
                          <a:latin typeface="Arial"/>
                          <a:ea typeface="Arial"/>
                          <a:cs typeface="Arial"/>
                        </a:rPr>
                        <a:t>25-28 Oct</a:t>
                      </a:r>
                    </a:p>
                  </a:txBody>
                  <a:tcPr marL="133350" marR="114300" marT="95250" marB="76200" anchor="ctr"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52D"/>
                          </a:solidFill>
                          <a:latin typeface="Arial"/>
                          <a:ea typeface="Arial"/>
                          <a:cs typeface="Arial"/>
                        </a:rPr>
                        <a:t>Freeze rules and evaluate unseen cases</a:t>
                      </a:r>
                    </a:p>
                  </a:txBody>
                  <a:tcPr marL="133350" marR="114300" marT="95250" marB="76200" anchor="ctr"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52D"/>
                          </a:solidFill>
                          <a:latin typeface="Arial"/>
                          <a:ea typeface="Arial"/>
                          <a:cs typeface="Arial"/>
                        </a:rPr>
                        <a:t>4 / 6</a:t>
                      </a:r>
                    </a:p>
                  </a:txBody>
                  <a:tcPr marL="133350" marR="114300" marT="95250" marB="76200" anchor="ctr">
                    <a:solidFill>
                      <a:srgbClr val="F4F7F7"/>
                    </a:solidFill>
                  </a:tcPr>
                </a:tc>
              </a:tr>
              <a:tr h="62103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52D"/>
                          </a:solidFill>
                          <a:latin typeface="Arial"/>
                          <a:ea typeface="Arial"/>
                          <a:cs typeface="Arial"/>
                        </a:rPr>
                        <a:t>29-30 Oct</a:t>
                      </a:r>
                    </a:p>
                  </a:txBody>
                  <a:tcPr marL="13335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52D"/>
                          </a:solidFill>
                          <a:latin typeface="Arial"/>
                          <a:ea typeface="Arial"/>
                          <a:cs typeface="Arial"/>
                        </a:rPr>
                        <a:t>Integrate the team demo and record video</a:t>
                      </a:r>
                    </a:p>
                  </a:txBody>
                  <a:tcPr marL="13335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52D"/>
                          </a:solidFill>
                          <a:latin typeface="Arial"/>
                          <a:ea typeface="Arial"/>
                          <a:cs typeface="Arial"/>
                        </a:rPr>
                        <a:t>5 / 6 with team</a:t>
                      </a:r>
                    </a:p>
                  </a:txBody>
                  <a:tcPr marL="133350" marR="114300" marT="9525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8B68F7-2F38-49DA-BD02-3E197EE3F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7A6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7A62"/>
                </a:solidFill>
                <a:latin typeface="Arial"/>
                <a:ea typeface="Arial"/>
                <a:cs typeface="Arial"/>
              </a:rPr>
              <a:t>Targets: zero overlaps, overloaded days or work after deadlines.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999C0D-8C89-498A-9B1E-F314A4FD7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52D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252D"/>
                </a:solidFill>
                <a:latin typeface="Arial"/>
                <a:ea typeface="Arial"/>
                <a:cs typeface="Arial"/>
              </a:rPr>
              <a:t>Every known shortage shows missing minutes. Replanning preserves locked blocks.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AD8887-848A-4C0D-B869-0A3F688D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36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2636C"/>
                </a:solidFill>
                <a:latin typeface="Arial"/>
                <a:ea typeface="Arial"/>
                <a:cs typeface="Arial"/>
              </a:rPr>
              <a:t>Proposed validation: 20 unseen scenarios after the rule freeze. Targets are not measured results.</a:t>
            </a:r>
          </a:p>
        </p:txBody>
      </p:sp>
    </p:spTree>
    <p:extLst>
      <p:ext uri="{BB962C8B-B14F-4D97-AF65-F5344CB8AC3E}">
        <p14:creationId xmlns:p14="http://schemas.microsoft.com/office/powerpoint/2010/main" val="11944713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7C447A-567B-4720-832D-571699099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52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52D"/>
                </a:solidFill>
                <a:latin typeface="Arial"/>
                <a:ea typeface="Arial"/>
                <a:cs typeface="Arial"/>
              </a:rPr>
              <a:t>Reference plans for Q&amp;A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98D515-78FA-4913-8B35-1B33B4291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2636C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52636C"/>
                </a:solidFill>
                <a:latin typeface="Arial"/>
                <a:ea typeface="Arial"/>
                <a:cs typeface="Arial"/>
              </a:rPr>
              <a:t>Synthetic week starting 12 Oct 2026. This is a manual reference plan.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762125"/>
          <a:ext xmlns:a="http://schemas.openxmlformats.org/drawingml/2006/main" cx="109728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47950"/>
                <a:gridCol w="3657600"/>
                <a:gridCol w="4667250"/>
              </a:tblGrid>
              <a:tr h="48305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Day</a:t>
                      </a:r>
                    </a:p>
                  </a:txBody>
                  <a:tcPr marL="133350" marR="114300" marT="95250" marB="76200" anchor="ctr">
                    <a:solidFill>
                      <a:srgbClr val="1725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Study interval</a:t>
                      </a:r>
                    </a:p>
                  </a:txBody>
                  <a:tcPr marL="133350" marR="114300" marT="95250" marB="76200" anchor="ctr">
                    <a:solidFill>
                      <a:srgbClr val="1725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Task</a:t>
                      </a:r>
                    </a:p>
                  </a:txBody>
                  <a:tcPr marL="133350" marR="114300" marT="95250" marB="76200" anchor="ctr">
                    <a:solidFill>
                      <a:srgbClr val="17252D"/>
                    </a:solidFill>
                  </a:tcPr>
                </a:tc>
              </a:tr>
              <a:tr h="48305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52D"/>
                          </a:solidFill>
                          <a:latin typeface="Arial"/>
                          <a:ea typeface="Arial"/>
                          <a:cs typeface="Arial"/>
                        </a:rPr>
                        <a:t>Mon 12 Oct</a:t>
                      </a:r>
                    </a:p>
                  </a:txBody>
                  <a:tcPr marL="133350" marR="114300" marT="95250" marB="76200" anchor="ctr"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52D"/>
                          </a:solidFill>
                          <a:latin typeface="Arial"/>
                          <a:ea typeface="Arial"/>
                          <a:cs typeface="Arial"/>
                        </a:rPr>
                        <a:t>16:00-17:30</a:t>
                      </a:r>
                    </a:p>
                  </a:txBody>
                  <a:tcPr marL="133350" marR="114300" marT="95250" marB="76200" anchor="ctr"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52D"/>
                          </a:solidFill>
                          <a:latin typeface="Arial"/>
                          <a:ea typeface="Arial"/>
                          <a:cs typeface="Arial"/>
                        </a:rPr>
                        <a:t>A Report draft</a:t>
                      </a:r>
                    </a:p>
                  </a:txBody>
                  <a:tcPr marL="133350" marR="114300" marT="95250" marB="76200" anchor="ctr">
                    <a:solidFill>
                      <a:srgbClr val="F4F7F7"/>
                    </a:solidFill>
                  </a:tcPr>
                </a:tc>
              </a:tr>
              <a:tr h="48305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52D"/>
                          </a:solidFill>
                          <a:latin typeface="Arial"/>
                          <a:ea typeface="Arial"/>
                          <a:cs typeface="Arial"/>
                        </a:rPr>
                        <a:t>Tue 13 Oct</a:t>
                      </a:r>
                    </a:p>
                  </a:txBody>
                  <a:tcPr marL="13335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52D"/>
                          </a:solidFill>
                          <a:latin typeface="Arial"/>
                          <a:ea typeface="Arial"/>
                          <a:cs typeface="Arial"/>
                        </a:rPr>
                        <a:t>09:00-10:30</a:t>
                      </a:r>
                    </a:p>
                  </a:txBody>
                  <a:tcPr marL="13335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52D"/>
                          </a:solidFill>
                          <a:latin typeface="Arial"/>
                          <a:ea typeface="Arial"/>
                          <a:cs typeface="Arial"/>
                        </a:rPr>
                        <a:t>B Quiz revision</a:t>
                      </a:r>
                    </a:p>
                  </a:txBody>
                  <a:tcPr marL="133350" marR="114300" marT="95250" marB="76200" anchor="ctr">
                    <a:solidFill>
                      <a:srgbClr val="FFFFFF"/>
                    </a:solidFill>
                  </a:tcPr>
                </a:tc>
              </a:tr>
              <a:tr h="48305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52D"/>
                          </a:solidFill>
                          <a:latin typeface="Arial"/>
                          <a:ea typeface="Arial"/>
                          <a:cs typeface="Arial"/>
                        </a:rPr>
                        <a:t>Tue 13 Oct</a:t>
                      </a:r>
                    </a:p>
                  </a:txBody>
                  <a:tcPr marL="133350" marR="114300" marT="95250" marB="76200" anchor="ctr"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52D"/>
                          </a:solidFill>
                          <a:latin typeface="Arial"/>
                          <a:ea typeface="Arial"/>
                          <a:cs typeface="Arial"/>
                        </a:rPr>
                        <a:t>15:00-16:30</a:t>
                      </a:r>
                    </a:p>
                  </a:txBody>
                  <a:tcPr marL="133350" marR="114300" marT="95250" marB="76200" anchor="ctr"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52D"/>
                          </a:solidFill>
                          <a:latin typeface="Arial"/>
                          <a:ea typeface="Arial"/>
                          <a:cs typeface="Arial"/>
                        </a:rPr>
                        <a:t>A Report draft</a:t>
                      </a:r>
                    </a:p>
                  </a:txBody>
                  <a:tcPr marL="133350" marR="114300" marT="95250" marB="76200" anchor="ctr">
                    <a:solidFill>
                      <a:srgbClr val="F4F7F7"/>
                    </a:solidFill>
                  </a:tcPr>
                </a:tc>
              </a:tr>
              <a:tr h="48305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52D"/>
                          </a:solidFill>
                          <a:latin typeface="Arial"/>
                          <a:ea typeface="Arial"/>
                          <a:cs typeface="Arial"/>
                        </a:rPr>
                        <a:t>Wed 14 Oct</a:t>
                      </a:r>
                    </a:p>
                  </a:txBody>
                  <a:tcPr marL="13335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52D"/>
                          </a:solidFill>
                          <a:latin typeface="Arial"/>
                          <a:ea typeface="Arial"/>
                          <a:cs typeface="Arial"/>
                        </a:rPr>
                        <a:t>10:00-11:00</a:t>
                      </a:r>
                    </a:p>
                  </a:txBody>
                  <a:tcPr marL="13335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52D"/>
                          </a:solidFill>
                          <a:latin typeface="Arial"/>
                          <a:ea typeface="Arial"/>
                          <a:cs typeface="Arial"/>
                        </a:rPr>
                        <a:t>A Report draft</a:t>
                      </a:r>
                    </a:p>
                  </a:txBody>
                  <a:tcPr marL="133350" marR="114300" marT="95250" marB="76200" anchor="ctr">
                    <a:solidFill>
                      <a:srgbClr val="FFFFFF"/>
                    </a:solidFill>
                  </a:tcPr>
                </a:tc>
              </a:tr>
              <a:tr h="48305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52D"/>
                          </a:solidFill>
                          <a:latin typeface="Arial"/>
                          <a:ea typeface="Arial"/>
                          <a:cs typeface="Arial"/>
                        </a:rPr>
                        <a:t>Wed 14 Oct</a:t>
                      </a:r>
                    </a:p>
                  </a:txBody>
                  <a:tcPr marL="133350" marR="114300" marT="95250" marB="76200" anchor="ctr"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52D"/>
                          </a:solidFill>
                          <a:latin typeface="Arial"/>
                          <a:ea typeface="Arial"/>
                          <a:cs typeface="Arial"/>
                        </a:rPr>
                        <a:t>16:00-17:00</a:t>
                      </a:r>
                    </a:p>
                  </a:txBody>
                  <a:tcPr marL="133350" marR="114300" marT="95250" marB="76200" anchor="ctr"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52D"/>
                          </a:solidFill>
                          <a:latin typeface="Arial"/>
                          <a:ea typeface="Arial"/>
                          <a:cs typeface="Arial"/>
                        </a:rPr>
                        <a:t>C Group slides</a:t>
                      </a:r>
                    </a:p>
                  </a:txBody>
                  <a:tcPr marL="133350" marR="114300" marT="95250" marB="76200" anchor="ctr">
                    <a:solidFill>
                      <a:srgbClr val="F4F7F7"/>
                    </a:solidFill>
                  </a:tcPr>
                </a:tc>
              </a:tr>
              <a:tr h="48305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52D"/>
                          </a:solidFill>
                          <a:latin typeface="Arial"/>
                          <a:ea typeface="Arial"/>
                          <a:cs typeface="Arial"/>
                        </a:rPr>
                        <a:t>Thu 15 Oct</a:t>
                      </a:r>
                    </a:p>
                  </a:txBody>
                  <a:tcPr marL="13335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52D"/>
                          </a:solidFill>
                          <a:latin typeface="Arial"/>
                          <a:ea typeface="Arial"/>
                          <a:cs typeface="Arial"/>
                        </a:rPr>
                        <a:t>09:00-10:00</a:t>
                      </a:r>
                    </a:p>
                  </a:txBody>
                  <a:tcPr marL="13335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52D"/>
                          </a:solidFill>
                          <a:latin typeface="Arial"/>
                          <a:ea typeface="Arial"/>
                          <a:cs typeface="Arial"/>
                        </a:rPr>
                        <a:t>C Group slides</a:t>
                      </a:r>
                    </a:p>
                  </a:txBody>
                  <a:tcPr marL="133350" marR="114300" marT="9525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00EA17-46BC-4C5C-B0AD-57898E5A5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97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7A6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7A62"/>
                </a:solidFill>
                <a:latin typeface="Arial"/>
                <a:ea typeface="Arial"/>
                <a:cs typeface="Arial"/>
              </a:rPr>
              <a:t>Total: 7.5 hours. Daily maximum: 3 hours. Minimum buffer: 26 hours.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F91533-70B1-45A2-A601-003238631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721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52D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252D"/>
                </a:solidFill>
                <a:latin typeface="Arial"/>
                <a:ea typeface="Arial"/>
                <a:cs typeface="Arial"/>
              </a:rPr>
              <a:t>Shortage example: 9 hours of work and only 3 available means at least 6 missing.</a:t>
            </a:r>
          </a:p>
        </p:txBody>
      </p:sp>
    </p:spTree>
    <p:extLst>
      <p:ext uri="{BB962C8B-B14F-4D97-AF65-F5344CB8AC3E}">
        <p14:creationId xmlns:p14="http://schemas.microsoft.com/office/powerpoint/2010/main" val="12594830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2026-10-07T13:48:49.2270000Z</dcterms:created>
  <dcterms:modified xsi:type="dcterms:W3CDTF">2026-10-07T13:48:49.2270000Z</dcterms:modified>
</coreProperties>
</file>