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ec35e93433c4d7f" /><Relationship Type="http://schemas.openxmlformats.org/officeDocument/2006/relationships/extended-properties" Target="/docProps/app.xml" Id="Re4061bb3a6f84a87" /><Relationship Type="http://schemas.openxmlformats.org/officeDocument/2006/relationships/officeDocument" Target="/ppt/presentation.xml" Id="R2bff8ff6eac94950" /></Relationships>
</file>

<file path=ppt/presentation.xml><?xml version="1.0" encoding="utf-8"?>
<p:presentation xmlns:p="http://schemas.openxmlformats.org/presentationml/2006/main">
  <p:sldMasterIdLst>
    <p:sldMasterId xmlns:r="http://schemas.openxmlformats.org/officeDocument/2006/relationships" id="2147483648" r:id="R0ea2f44ae9694d7e"/>
  </p:sldMasterIdLst>
  <p:notesMasterIdLst>
    <p:notesMasterId xmlns:r="http://schemas.openxmlformats.org/officeDocument/2006/relationships" r:id="Race6e1be10b24e56"/>
  </p:notesMasterIdLst>
  <p:sldIdLst>
    <p:sldId xmlns:r="http://schemas.openxmlformats.org/officeDocument/2006/relationships" id="256" r:id="R32730d6a6a48407a"/>
    <p:sldId xmlns:r="http://schemas.openxmlformats.org/officeDocument/2006/relationships" id="257" r:id="Rfea935e93edb4187"/>
    <p:sldId xmlns:r="http://schemas.openxmlformats.org/officeDocument/2006/relationships" id="258" r:id="Rba34723d573c453e"/>
    <p:sldId xmlns:r="http://schemas.openxmlformats.org/officeDocument/2006/relationships" id="259" r:id="R12a2b521c21a4bb1"/>
    <p:sldId xmlns:r="http://schemas.openxmlformats.org/officeDocument/2006/relationships" id="260" r:id="R1a18fce82fba446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69825eb5e4a4f74" /><Relationship Type="http://schemas.openxmlformats.org/officeDocument/2006/relationships/slideMaster" Target="/ppt/slideMasters/slideMaster1.xml" Id="R0ea2f44ae9694d7e" /><Relationship Type="http://schemas.openxmlformats.org/officeDocument/2006/relationships/notesMaster" Target="/ppt/notesMasters/notesMaster1.xml" Id="Race6e1be10b24e56" /><Relationship Type="http://schemas.openxmlformats.org/officeDocument/2006/relationships/presProps" Target="/ppt/presProps.xml" Id="R8ee963c6453648c2" /><Relationship Type="http://schemas.openxmlformats.org/officeDocument/2006/relationships/tableStyles" Target="/ppt/tableStyles.xml" Id="R0405694187f9485a" /><Relationship Type="http://schemas.openxmlformats.org/officeDocument/2006/relationships/slide" Target="/ppt/slides/slide1.xml" Id="R32730d6a6a48407a" /><Relationship Type="http://schemas.openxmlformats.org/officeDocument/2006/relationships/slide" Target="/ppt/slides/slide2.xml" Id="Rfea935e93edb4187" /><Relationship Type="http://schemas.openxmlformats.org/officeDocument/2006/relationships/slide" Target="/ppt/slides/slide3.xml" Id="Rba34723d573c453e" /><Relationship Type="http://schemas.openxmlformats.org/officeDocument/2006/relationships/slide" Target="/ppt/slides/slide4.xml" Id="R12a2b521c21a4bb1" /><Relationship Type="http://schemas.openxmlformats.org/officeDocument/2006/relationships/slide" Target="/ppt/slides/slide5.xml" Id="R1a18fce82fba446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b339f944ce240d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340f5aa596348bb" /><Relationship Type="http://schemas.openxmlformats.org/officeDocument/2006/relationships/notesMaster" Target="/ppt/notesMasters/notesMaster1.xml" Id="R8c915b41dd874b09" /></Relationships>
</file>

<file path=ppt/notesSlides/_rels/notesSlide2.xml.rels>&#65279;<?xml version="1.0" encoding="utf-8"?><Relationships xmlns="http://schemas.openxmlformats.org/package/2006/relationships"><Relationship Type="http://schemas.openxmlformats.org/officeDocument/2006/relationships/slide" Target="/ppt/slides/slide2.xml" Id="R53fb8ada1d7548c2" /><Relationship Type="http://schemas.openxmlformats.org/officeDocument/2006/relationships/notesMaster" Target="/ppt/notesMasters/notesMaster1.xml" Id="Rac9267ef45cc402f" /></Relationships>
</file>

<file path=ppt/notesSlides/_rels/notesSlide3.xml.rels>&#65279;<?xml version="1.0" encoding="utf-8"?><Relationships xmlns="http://schemas.openxmlformats.org/package/2006/relationships"><Relationship Type="http://schemas.openxmlformats.org/officeDocument/2006/relationships/slide" Target="/ppt/slides/slide3.xml" Id="Rf2fc08b7882a4b54" /><Relationship Type="http://schemas.openxmlformats.org/officeDocument/2006/relationships/notesMaster" Target="/ppt/notesMasters/notesMaster1.xml" Id="Ra8cd710761844e0e" /></Relationships>
</file>

<file path=ppt/notesSlides/_rels/notesSlide4.xml.rels>&#65279;<?xml version="1.0" encoding="utf-8"?><Relationships xmlns="http://schemas.openxmlformats.org/package/2006/relationships"><Relationship Type="http://schemas.openxmlformats.org/officeDocument/2006/relationships/slide" Target="/ppt/slides/slide4.xml" Id="R7fa5134ca5904ad2" /><Relationship Type="http://schemas.openxmlformats.org/officeDocument/2006/relationships/notesMaster" Target="/ppt/notesMasters/notesMaster1.xml" Id="Rfab48f3a71dd4d04" /></Relationships>
</file>

<file path=ppt/notesSlides/_rels/notesSlide5.xml.rels>&#65279;<?xml version="1.0" encoding="utf-8"?><Relationships xmlns="http://schemas.openxmlformats.org/package/2006/relationships"><Relationship Type="http://schemas.openxmlformats.org/officeDocument/2006/relationships/slide" Target="/ppt/slides/slide5.xml" Id="R823399fd96c54f9f" /><Relationship Type="http://schemas.openxmlformats.org/officeDocument/2006/relationships/notesMaster" Target="/ppt/notesMasters/notesMaster1.xml" Id="R518fa91f862446b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approximately 30 seconds:</a:t>
            </a:r>
          </a:p>
          <a:p xmlns:a="http://schemas.openxmlformats.org/drawingml/2006/main">
            <a:r>
              <a:t>My component is the student interface. It has three connected pages: input messages, review tasks, and study planning. Students can edit deadlines against the original text, add remaining effort, and confirm the tasks they want to schedule. They then set their available hours and preview a plan before saving it.</a:t>
            </a:r>
          </a:p>
          <a:p xmlns:a="http://schemas.openxmlformats.org/drawingml/2006/main">
            <a:r>
              <a:t>Team references: https://github.com/YichenLi-02/dss5105-track4/blob/huangpengyu/no5_backendintegration/README.md</a:t>
            </a:r>
          </a:p>
          <a:p xmlns:a="http://schemas.openxmlformats.org/drawingml/2006/main">
            <a:r>
              <a:t>https://github.com/YichenLi-02/dss5105-track4/blob/zhaozichen/github_upload/planner/README.md</a:t>
            </a:r>
          </a:p>
          <a:p xmlns:a="http://schemas.openxmlformats.org/drawingml/2006/main">
            <a:r>
              <a:t>Screenshots show the locally tested frontend prototype with fictional development data. No live AI or mailbox/calendar integration. Scheduling is a browser simulation, not the final member 4/5 backend. Local browser tests do not establish final model accuracy, time savings or independent evaluation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approximately 30 seconds:</a:t>
            </a:r>
          </a:p>
          <a:p xmlns:a="http://schemas.openxmlformats.org/drawingml/2006/main">
            <a:r>
              <a:t>The UI also handles missing dates, conflicting deadline suggestions, and insufficient time. Students can lock a session, record completed work, and re-plan the remaining effort. Saving requires a separate confirmation and restores the workspace after a reload. This is a working frontend prototype with demo extraction and scheduling. Next, I will connect the team’s AI and backend services and test usability with students.</a:t>
            </a:r>
          </a:p>
          <a:p xmlns:a="http://schemas.openxmlformats.org/drawingml/2006/main">
            <a:r>
              <a:t>Team references: https://github.com/YichenLi-02/dss5105-track4/blob/huangpengyu/no5_backendintegration/README.md</a:t>
            </a:r>
          </a:p>
          <a:p xmlns:a="http://schemas.openxmlformats.org/drawingml/2006/main">
            <a:r>
              <a:t>https://github.com/YichenLi-02/dss5105-track4/blob/zhaozichen/github_upload/planner/README.md</a:t>
            </a:r>
          </a:p>
          <a:p xmlns:a="http://schemas.openxmlformats.org/drawingml/2006/main">
            <a:r>
              <a:t>Screenshots show the locally tested frontend prototype with fictional development data. No live AI or mailbox/calendar integration. Scheduling is a browser simulation, not the final member 4/5 backend. Local browser tests do not establish final model accuracy, time savings or independent evaluation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references: https://github.com/YichenLi-02/dss5105-track4/blob/huangpengyu/no5_backendintegration/README.md</a:t>
            </a:r>
          </a:p>
          <a:p xmlns:a="http://schemas.openxmlformats.org/drawingml/2006/main">
            <a:r>
              <a:t>https://github.com/YichenLi-02/dss5105-track4/blob/zhaozichen/github_upload/planner/README.md</a:t>
            </a:r>
          </a:p>
          <a:p xmlns:a="http://schemas.openxmlformats.org/drawingml/2006/main">
            <a:r>
              <a:t>Screenshots show the locally tested frontend prototype with fictional development data. No live AI or mailbox/calendar integration. Scheduling is a browser simulation, not the final member 4/5 backend. Local browser tests do not establish final model accuracy, time savings or independent evaluation results.</a:t>
            </a:r>
          </a:p>
          <a:p xmlns:a="http://schemas.openxmlformats.org/drawingml/2006/main">
            <a:r>
              <a:t>Appendix screenshot. The full-resolution image is included separately. UI source is in ui/index.html, ui/styles.css, ui/app.js and ui/planner.js.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references: https://github.com/YichenLi-02/dss5105-track4/blob/huangpengyu/no5_backendintegration/README.md</a:t>
            </a:r>
          </a:p>
          <a:p xmlns:a="http://schemas.openxmlformats.org/drawingml/2006/main">
            <a:r>
              <a:t>https://github.com/YichenLi-02/dss5105-track4/blob/zhaozichen/github_upload/planner/README.md</a:t>
            </a:r>
          </a:p>
          <a:p xmlns:a="http://schemas.openxmlformats.org/drawingml/2006/main">
            <a:r>
              <a:t>Screenshots show the locally tested frontend prototype with fictional development data. No live AI or mailbox/calendar integration. Scheduling is a browser simulation, not the final member 4/5 backend. Local browser tests do not establish final model accuracy, time savings or independent evaluation results.</a:t>
            </a:r>
          </a:p>
          <a:p xmlns:a="http://schemas.openxmlformats.org/drawingml/2006/main">
            <a:r>
              <a:t>Appendix screenshot. The full-resolution image is included separately. UI source is in ui/index.html, ui/styles.css, ui/app.js and ui/planner.js.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references: https://github.com/YichenLi-02/dss5105-track4/blob/huangpengyu/no5_backendintegration/README.md</a:t>
            </a:r>
          </a:p>
          <a:p xmlns:a="http://schemas.openxmlformats.org/drawingml/2006/main">
            <a:r>
              <a:t>https://github.com/YichenLi-02/dss5105-track4/blob/zhaozichen/github_upload/planner/README.md</a:t>
            </a:r>
          </a:p>
          <a:p xmlns:a="http://schemas.openxmlformats.org/drawingml/2006/main">
            <a:r>
              <a:t>Screenshots show the locally tested frontend prototype with fictional development data. No live AI or mailbox/calendar integration. Scheduling is a browser simulation, not the final member 4/5 backend. Local browser tests do not establish final model accuracy, time savings or independent evaluation results.</a:t>
            </a:r>
          </a:p>
          <a:p xmlns:a="http://schemas.openxmlformats.org/drawingml/2006/main">
            <a:r>
              <a:t>Appendix screenshot. The full-resolution image is included separately. UI source is in ui/index.html, ui/styles.css, ui/app.js and ui/planner.js.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72860f5577a4eb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437f9c7571f4ee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07c08f5a5cf4e6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a07b0189d17458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82e0beed8b942e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fbf24706cf34c3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4A94F30-F062-413B-9E4F-8B92CA7214F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588EE5D-D2B3-451C-8571-48FF3BE31BC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6F8BB91-5ADB-43F6-A7AD-73C5384555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B8BEF6B-0137-492B-AC4F-6687CF85330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250EC00-04AC-4A3B-AE0F-874797FC051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5701D59-37A5-4244-9AF3-48A639E0EAD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9E63A8C-0748-498B-874F-ABBC36BB35A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5FCA32C-4B67-4BEC-9866-FDFACDE0E12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B7E57BA-83E6-47B7-AC52-A68BA56E753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57E9D12-910D-496A-9A10-ECF1392205B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6aec6ced4fb4af8" /><Relationship Type="http://schemas.openxmlformats.org/officeDocument/2006/relationships/slideLayout" Target="/ppt/slideLayouts/slideLayout1.xml" Id="Ra937d21c88914235" /><Relationship Type="http://schemas.openxmlformats.org/officeDocument/2006/relationships/slideLayout" Target="/ppt/slideLayouts/slideLayout2.xml" Id="R51db16e294de4fec" /><Relationship Type="http://schemas.openxmlformats.org/officeDocument/2006/relationships/slideLayout" Target="/ppt/slideLayouts/slideLayout3.xml" Id="Rc394f8c5d293491c" /><Relationship Type="http://schemas.openxmlformats.org/officeDocument/2006/relationships/slideLayout" Target="/ppt/slideLayouts/slideLayout4.xml" Id="R1c6ce18edbd548e0" /><Relationship Type="http://schemas.openxmlformats.org/officeDocument/2006/relationships/slideLayout" Target="/ppt/slideLayouts/slideLayout5.xml" Id="R6a6d700b24c14c7a" /><Relationship Type="http://schemas.openxmlformats.org/officeDocument/2006/relationships/slideLayout" Target="/ppt/slideLayouts/slideLayout6.xml" Id="Rf0c82a312d5640d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937d21c88914235"/>
    <p:sldLayoutId xmlns:r="http://schemas.openxmlformats.org/officeDocument/2006/relationships" id="2147483650" r:id="R51db16e294de4fec"/>
    <p:sldLayoutId xmlns:r="http://schemas.openxmlformats.org/officeDocument/2006/relationships" id="2147483651" r:id="Rc394f8c5d293491c"/>
    <p:sldLayoutId xmlns:r="http://schemas.openxmlformats.org/officeDocument/2006/relationships" id="2147483652" r:id="R1c6ce18edbd548e0"/>
    <p:sldLayoutId xmlns:r="http://schemas.openxmlformats.org/officeDocument/2006/relationships" id="2147483653" r:id="R6a6d700b24c14c7a"/>
    <p:sldLayoutId xmlns:r="http://schemas.openxmlformats.org/officeDocument/2006/relationships" id="2147483654" r:id="Rf0c82a312d5640d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02e6be7ad644220" /><Relationship Type="http://schemas.openxmlformats.org/officeDocument/2006/relationships/image" Target="/ppt/media/image.png" Id="R2341466b32b84817" /><Relationship Type="http://schemas.openxmlformats.org/officeDocument/2006/relationships/notesSlide" Target="/ppt/notesSlides/notesSlide1.xml" Id="R5557f3bfa36c490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7ab31fd57a24331" /><Relationship Type="http://schemas.openxmlformats.org/officeDocument/2006/relationships/image" Target="/ppt/media/image2.png" Id="Racfc645ef06547fc" /><Relationship Type="http://schemas.openxmlformats.org/officeDocument/2006/relationships/notesSlide" Target="/ppt/notesSlides/notesSlide2.xml" Id="R8f6d0989e35f4f8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f2e82adbd654b43" /><Relationship Type="http://schemas.openxmlformats.org/officeDocument/2006/relationships/image" Target="/ppt/media/image3.png" Id="Rd4adffd3e0014f11" /><Relationship Type="http://schemas.openxmlformats.org/officeDocument/2006/relationships/notesSlide" Target="/ppt/notesSlides/notesSlide3.xml" Id="R92eb82b33bc44b4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d5c99b139194c6b" /><Relationship Type="http://schemas.openxmlformats.org/officeDocument/2006/relationships/image" Target="/ppt/media/image4.png" Id="R5b9d0418c4e94a62" /><Relationship Type="http://schemas.openxmlformats.org/officeDocument/2006/relationships/notesSlide" Target="/ppt/notesSlides/notesSlide4.xml" Id="R72127ee657334ae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d112e1538c44346" /><Relationship Type="http://schemas.openxmlformats.org/officeDocument/2006/relationships/image" Target="/ppt/media/image5.png" Id="R606a928e2625408e" /><Relationship Type="http://schemas.openxmlformats.org/officeDocument/2006/relationships/notesSlide" Target="/ppt/notesSlides/notesSlide5.xml" Id="Rb6c8d1824d3f408e" /></Relationships>
</file>

<file path=ppt/slides/slide1.xml><?xml version="1.0" encoding="utf-8"?>
<p:sld xmlns:p="http://schemas.openxmlformats.org/presentationml/2006/main">
  <p:cSld>
    <p:bg>
      <p:bgPr>
        <a:solidFill xmlns:a="http://schemas.openxmlformats.org/drawingml/2006/main">
          <a:srgbClr val="F7F8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9C90DC6-F136-44D5-89F9-4D9A42B8E851}"/>
              </a:ext>
            </a:extLst>
          </p:cNvPr>
          <p:cNvSpPr>
            <a:spLocks xmlns:a="http://schemas.openxmlformats.org/drawingml/2006/main" noGrp="1"/>
          </p:cNvSpPr>
          <p:nvPr/>
        </p:nvSpPr>
        <p:spPr>
          <a:xfrm xmlns:a="http://schemas.openxmlformats.org/drawingml/2006/main">
            <a:off x="495300" y="266700"/>
            <a:ext cx="11201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050" b="1">
                <a:solidFill>
                  <a:srgbClr val="6555D7"/>
                </a:solidFill>
                <a:latin typeface="Arial"/>
                <a:ea typeface="Arial"/>
                <a:cs typeface="Arial"/>
              </a:defRPr>
            </a:defPPr>
          </a:lstStyle>
          <a:p xmlns:a="http://schemas.openxmlformats.org/drawingml/2006/main">
            <a:pPr>
              <a:defRPr sz="1050" b="1">
                <a:solidFill>
                  <a:srgbClr val="6555D7"/>
                </a:solidFill>
                <a:latin typeface="Arial"/>
                <a:ea typeface="Arial"/>
                <a:cs typeface="Arial"/>
              </a:defRPr>
            </a:pPr>
            <a:r>
              <a:rPr sz="1050" b="1">
                <a:solidFill>
                  <a:srgbClr val="6555D7"/>
                </a:solidFill>
                <a:latin typeface="Arial"/>
                <a:ea typeface="Arial"/>
                <a:cs typeface="Arial"/>
              </a:rPr>
              <a:t>STUDYSPACE   /   STUDENT PRODUCTIVITY AGENT</a:t>
            </a:r>
          </a:p>
        </p:txBody>
      </p:sp>
      <p:sp>
        <p:nvSpPr>
          <p:cNvPr id="2" name="">
            <a:extLst xmlns:a="http://schemas.openxmlformats.org/drawingml/2006/main">
              <a:ext uri="{FF2B5EF4-FFF2-40B4-BE49-F238E27FC236}">
                <a16:creationId xmlns:a16="http://schemas.microsoft.com/office/drawing/2014/main" id="{4746A425-4484-48F0-8B54-5967F941C9BD}"/>
              </a:ext>
            </a:extLst>
          </p:cNvPr>
          <p:cNvSpPr>
            <a:spLocks xmlns:a="http://schemas.openxmlformats.org/drawingml/2006/main" noGrp="1"/>
          </p:cNvSpPr>
          <p:nvPr/>
        </p:nvSpPr>
        <p:spPr>
          <a:xfrm xmlns:a="http://schemas.openxmlformats.org/drawingml/2006/main">
            <a:off x="495300" y="762000"/>
            <a:ext cx="11201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300" b="1">
                <a:solidFill>
                  <a:srgbClr val="24283C"/>
                </a:solidFill>
                <a:latin typeface="Arial"/>
                <a:ea typeface="Arial"/>
                <a:cs typeface="Arial"/>
              </a:defRPr>
            </a:defPPr>
          </a:lstStyle>
          <a:p xmlns:a="http://schemas.openxmlformats.org/drawingml/2006/main">
            <a:pPr>
              <a:defRPr sz="3300" b="1">
                <a:solidFill>
                  <a:srgbClr val="24283C"/>
                </a:solidFill>
                <a:latin typeface="Arial"/>
                <a:ea typeface="Arial"/>
                <a:cs typeface="Arial"/>
              </a:defRPr>
            </a:pPr>
            <a:r>
              <a:rPr sz="3300" b="1">
                <a:solidFill>
                  <a:srgbClr val="24283C"/>
                </a:solidFill>
                <a:latin typeface="Arial"/>
                <a:ea typeface="Arial"/>
                <a:cs typeface="Arial"/>
              </a:rPr>
              <a:t>An interface students can use</a:t>
            </a:r>
          </a:p>
        </p:txBody>
      </p:sp>
      <p:sp>
        <p:nvSpPr>
          <p:cNvPr id="3" name="">
            <a:extLst xmlns:a="http://schemas.openxmlformats.org/drawingml/2006/main">
              <a:ext uri="{FF2B5EF4-FFF2-40B4-BE49-F238E27FC236}">
                <a16:creationId xmlns:a16="http://schemas.microsoft.com/office/drawing/2014/main" id="{DA85CFD1-5B93-47E6-B63E-C0FF5CF80E27}"/>
              </a:ext>
            </a:extLst>
          </p:cNvPr>
          <p:cNvSpPr>
            <a:spLocks xmlns:a="http://schemas.openxmlformats.org/drawingml/2006/main" noGrp="1"/>
          </p:cNvSpPr>
          <p:nvPr/>
        </p:nvSpPr>
        <p:spPr>
          <a:xfrm xmlns:a="http://schemas.openxmlformats.org/drawingml/2006/main">
            <a:off x="495300" y="1400175"/>
            <a:ext cx="11201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0">
                <a:solidFill>
                  <a:srgbClr val="81879E"/>
                </a:solidFill>
                <a:latin typeface="Arial"/>
                <a:ea typeface="Arial"/>
                <a:cs typeface="Arial"/>
              </a:defRPr>
            </a:defPPr>
          </a:lstStyle>
          <a:p xmlns:a="http://schemas.openxmlformats.org/drawingml/2006/main">
            <a:pPr>
              <a:defRPr sz="1725" b="0">
                <a:solidFill>
                  <a:srgbClr val="81879E"/>
                </a:solidFill>
                <a:latin typeface="Arial"/>
                <a:ea typeface="Arial"/>
                <a:cs typeface="Arial"/>
              </a:defRPr>
            </a:pPr>
            <a:r>
              <a:rPr sz="1725" b="0">
                <a:solidFill>
                  <a:srgbClr val="81879E"/>
                </a:solidFill>
                <a:latin typeface="Arial"/>
                <a:ea typeface="Arial"/>
                <a:cs typeface="Arial"/>
              </a:rPr>
              <a:t>Three connected pages with student confirmation before scheduling</a:t>
            </a:r>
          </a:p>
        </p:txBody>
      </p:sp>
      <p:sp>
        <p:nvSpPr>
          <p:cNvPr id="4" name="">
            <a:extLst xmlns:a="http://schemas.openxmlformats.org/drawingml/2006/main">
              <a:ext uri="{FF2B5EF4-FFF2-40B4-BE49-F238E27FC236}">
                <a16:creationId xmlns:a16="http://schemas.microsoft.com/office/drawing/2014/main" id="{214CC0C2-DF2D-4F4F-8EAB-94A94478E774}"/>
              </a:ext>
            </a:extLst>
          </p:cNvPr>
          <p:cNvSpPr>
            <a:spLocks xmlns:a="http://schemas.openxmlformats.org/drawingml/2006/main" noGrp="1"/>
          </p:cNvSpPr>
          <p:nvPr/>
        </p:nvSpPr>
        <p:spPr>
          <a:xfrm xmlns:a="http://schemas.openxmlformats.org/drawingml/2006/main">
            <a:off x="495300" y="6448425"/>
            <a:ext cx="1009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050" b="0">
                <a:solidFill>
                  <a:srgbClr val="81879E"/>
                </a:solidFill>
                <a:latin typeface="Arial"/>
                <a:ea typeface="Arial"/>
                <a:cs typeface="Arial"/>
              </a:defRPr>
            </a:defPPr>
          </a:lstStyle>
          <a:p xmlns:a="http://schemas.openxmlformats.org/drawingml/2006/main">
            <a:pPr>
              <a:defRPr sz="1050" b="0">
                <a:solidFill>
                  <a:srgbClr val="81879E"/>
                </a:solidFill>
                <a:latin typeface="Arial"/>
                <a:ea typeface="Arial"/>
                <a:cs typeface="Arial"/>
              </a:defRPr>
            </a:pPr>
            <a:r>
              <a:rPr sz="1050" b="0">
                <a:solidFill>
                  <a:srgbClr val="81879E"/>
                </a:solidFill>
                <a:latin typeface="Arial"/>
                <a:ea typeface="Arial"/>
                <a:cs typeface="Arial"/>
              </a:rPr>
              <a:t>DSS5105 Track 4   /   zhengjunduo   /   Sprint 1</a:t>
            </a:r>
          </a:p>
        </p:txBody>
      </p:sp>
      <p:sp>
        <p:nvSpPr>
          <p:cNvPr id="5" name="">
            <a:extLst xmlns:a="http://schemas.openxmlformats.org/drawingml/2006/main">
              <a:ext uri="{FF2B5EF4-FFF2-40B4-BE49-F238E27FC236}">
                <a16:creationId xmlns:a16="http://schemas.microsoft.com/office/drawing/2014/main" id="{83441CC4-1CA2-4C32-9E28-0CF0065AF2E5}"/>
              </a:ext>
            </a:extLst>
          </p:cNvPr>
          <p:cNvSpPr>
            <a:spLocks xmlns:a="http://schemas.openxmlformats.org/drawingml/2006/main" noGrp="1"/>
          </p:cNvSpPr>
          <p:nvPr/>
        </p:nvSpPr>
        <p:spPr>
          <a:xfrm xmlns:a="http://schemas.openxmlformats.org/drawingml/2006/main">
            <a:off x="11163300" y="64484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050" b="0">
                <a:solidFill>
                  <a:srgbClr val="81879E"/>
                </a:solidFill>
                <a:latin typeface="Arial"/>
                <a:ea typeface="Arial"/>
                <a:cs typeface="Arial"/>
              </a:defRPr>
            </a:defPPr>
          </a:lstStyle>
          <a:p xmlns:a="http://schemas.openxmlformats.org/drawingml/2006/main">
            <a:pPr>
              <a:defRPr sz="1050" b="0">
                <a:solidFill>
                  <a:srgbClr val="81879E"/>
                </a:solidFill>
                <a:latin typeface="Arial"/>
                <a:ea typeface="Arial"/>
                <a:cs typeface="Arial"/>
              </a:defRPr>
            </a:pPr>
            <a:r>
              <a:rPr sz="1050" b="0">
                <a:solidFill>
                  <a:srgbClr val="81879E"/>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8774CA68-9D53-42E7-821C-CC46A8C79867}"/>
              </a:ext>
            </a:extLst>
          </p:cNvPr>
          <p:cNvSpPr>
            <a:spLocks xmlns:a="http://schemas.openxmlformats.org/drawingml/2006/main" noGrp="1"/>
          </p:cNvSpPr>
          <p:nvPr/>
        </p:nvSpPr>
        <p:spPr>
          <a:xfrm xmlns:a="http://schemas.openxmlformats.org/drawingml/2006/main">
            <a:off x="495300" y="2219325"/>
            <a:ext cx="51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1">
                <a:solidFill>
                  <a:srgbClr val="6555D7"/>
                </a:solidFill>
                <a:latin typeface="Arial"/>
                <a:ea typeface="Arial"/>
                <a:cs typeface="Arial"/>
              </a:defRPr>
            </a:defPPr>
          </a:lstStyle>
          <a:p xmlns:a="http://schemas.openxmlformats.org/drawingml/2006/main">
            <a:pPr>
              <a:defRPr sz="1875" b="1">
                <a:solidFill>
                  <a:srgbClr val="6555D7"/>
                </a:solidFill>
                <a:latin typeface="Arial"/>
                <a:ea typeface="Arial"/>
                <a:cs typeface="Arial"/>
              </a:defRPr>
            </a:pPr>
            <a:r>
              <a:rPr sz="1875" b="1">
                <a:solidFill>
                  <a:srgbClr val="6555D7"/>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7F0C0474-B866-417B-B0C0-E7DF24780E15}"/>
              </a:ext>
            </a:extLst>
          </p:cNvPr>
          <p:cNvSpPr>
            <a:spLocks xmlns:a="http://schemas.openxmlformats.org/drawingml/2006/main" noGrp="1"/>
          </p:cNvSpPr>
          <p:nvPr/>
        </p:nvSpPr>
        <p:spPr>
          <a:xfrm xmlns:a="http://schemas.openxmlformats.org/drawingml/2006/main">
            <a:off x="1143000" y="2219325"/>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1">
                <a:solidFill>
                  <a:srgbClr val="24283C"/>
                </a:solidFill>
                <a:latin typeface="Arial"/>
                <a:ea typeface="Arial"/>
                <a:cs typeface="Arial"/>
              </a:defRPr>
            </a:defPPr>
          </a:lstStyle>
          <a:p xmlns:a="http://schemas.openxmlformats.org/drawingml/2006/main">
            <a:pPr>
              <a:defRPr sz="2100" b="1">
                <a:solidFill>
                  <a:srgbClr val="24283C"/>
                </a:solidFill>
                <a:latin typeface="Arial"/>
                <a:ea typeface="Arial"/>
                <a:cs typeface="Arial"/>
              </a:defRPr>
            </a:pPr>
            <a:r>
              <a:rPr sz="2100" b="1">
                <a:solidFill>
                  <a:srgbClr val="24283C"/>
                </a:solidFill>
                <a:latin typeface="Arial"/>
                <a:ea typeface="Arial"/>
                <a:cs typeface="Arial"/>
              </a:rPr>
              <a:t>Input messages</a:t>
            </a:r>
          </a:p>
        </p:txBody>
      </p:sp>
      <p:sp>
        <p:nvSpPr>
          <p:cNvPr id="8" name="">
            <a:extLst xmlns:a="http://schemas.openxmlformats.org/drawingml/2006/main">
              <a:ext uri="{FF2B5EF4-FFF2-40B4-BE49-F238E27FC236}">
                <a16:creationId xmlns:a16="http://schemas.microsoft.com/office/drawing/2014/main" id="{181F7616-89B4-4FC8-99D7-72133E8229A8}"/>
              </a:ext>
            </a:extLst>
          </p:cNvPr>
          <p:cNvSpPr>
            <a:spLocks xmlns:a="http://schemas.openxmlformats.org/drawingml/2006/main" noGrp="1"/>
          </p:cNvSpPr>
          <p:nvPr/>
        </p:nvSpPr>
        <p:spPr>
          <a:xfrm xmlns:a="http://schemas.openxmlformats.org/drawingml/2006/main">
            <a:off x="1143000" y="2657475"/>
            <a:ext cx="3505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0">
                <a:solidFill>
                  <a:srgbClr val="81879E"/>
                </a:solidFill>
                <a:latin typeface="Arial"/>
                <a:ea typeface="Arial"/>
                <a:cs typeface="Arial"/>
              </a:defRPr>
            </a:defPPr>
          </a:lstStyle>
          <a:p xmlns:a="http://schemas.openxmlformats.org/drawingml/2006/main">
            <a:pPr>
              <a:defRPr sz="1725" b="0">
                <a:solidFill>
                  <a:srgbClr val="81879E"/>
                </a:solidFill>
                <a:latin typeface="Arial"/>
                <a:ea typeface="Arial"/>
                <a:cs typeface="Arial"/>
              </a:defRPr>
            </a:pPr>
            <a:r>
              <a:rPr sz="1725" b="0">
                <a:solidFill>
                  <a:srgbClr val="81879E"/>
                </a:solidFill>
                <a:latin typeface="Arial"/>
                <a:ea typeface="Arial"/>
                <a:cs typeface="Arial"/>
              </a:rPr>
              <a:t>Paste text or import a CSV.</a:t>
            </a:r>
          </a:p>
        </p:txBody>
      </p:sp>
      <p:sp>
        <p:nvSpPr>
          <p:cNvPr id="9" name="">
            <a:extLst xmlns:a="http://schemas.openxmlformats.org/drawingml/2006/main">
              <a:ext uri="{FF2B5EF4-FFF2-40B4-BE49-F238E27FC236}">
                <a16:creationId xmlns:a16="http://schemas.microsoft.com/office/drawing/2014/main" id="{858F2724-9724-4321-B703-BEB58F11A3C6}"/>
              </a:ext>
            </a:extLst>
          </p:cNvPr>
          <p:cNvSpPr>
            <a:spLocks xmlns:a="http://schemas.openxmlformats.org/drawingml/2006/main" noGrp="1"/>
          </p:cNvSpPr>
          <p:nvPr/>
        </p:nvSpPr>
        <p:spPr>
          <a:xfrm xmlns:a="http://schemas.openxmlformats.org/drawingml/2006/main">
            <a:off x="495300" y="3209925"/>
            <a:ext cx="51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1">
                <a:solidFill>
                  <a:srgbClr val="6555D7"/>
                </a:solidFill>
                <a:latin typeface="Arial"/>
                <a:ea typeface="Arial"/>
                <a:cs typeface="Arial"/>
              </a:defRPr>
            </a:defPPr>
          </a:lstStyle>
          <a:p xmlns:a="http://schemas.openxmlformats.org/drawingml/2006/main">
            <a:pPr>
              <a:defRPr sz="1875" b="1">
                <a:solidFill>
                  <a:srgbClr val="6555D7"/>
                </a:solidFill>
                <a:latin typeface="Arial"/>
                <a:ea typeface="Arial"/>
                <a:cs typeface="Arial"/>
              </a:defRPr>
            </a:pPr>
            <a:r>
              <a:rPr sz="1875" b="1">
                <a:solidFill>
                  <a:srgbClr val="6555D7"/>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1C3DE7BB-3F26-4431-ABEE-243B518EE76E}"/>
              </a:ext>
            </a:extLst>
          </p:cNvPr>
          <p:cNvSpPr>
            <a:spLocks xmlns:a="http://schemas.openxmlformats.org/drawingml/2006/main" noGrp="1"/>
          </p:cNvSpPr>
          <p:nvPr/>
        </p:nvSpPr>
        <p:spPr>
          <a:xfrm xmlns:a="http://schemas.openxmlformats.org/drawingml/2006/main">
            <a:off x="1143000" y="3209925"/>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1">
                <a:solidFill>
                  <a:srgbClr val="24283C"/>
                </a:solidFill>
                <a:latin typeface="Arial"/>
                <a:ea typeface="Arial"/>
                <a:cs typeface="Arial"/>
              </a:defRPr>
            </a:defPPr>
          </a:lstStyle>
          <a:p xmlns:a="http://schemas.openxmlformats.org/drawingml/2006/main">
            <a:pPr>
              <a:defRPr sz="2100" b="1">
                <a:solidFill>
                  <a:srgbClr val="24283C"/>
                </a:solidFill>
                <a:latin typeface="Arial"/>
                <a:ea typeface="Arial"/>
                <a:cs typeface="Arial"/>
              </a:defRPr>
            </a:pPr>
            <a:r>
              <a:rPr sz="2100" b="1">
                <a:solidFill>
                  <a:srgbClr val="24283C"/>
                </a:solidFill>
                <a:latin typeface="Arial"/>
                <a:ea typeface="Arial"/>
                <a:cs typeface="Arial"/>
              </a:rPr>
              <a:t>Review tasks</a:t>
            </a:r>
          </a:p>
        </p:txBody>
      </p:sp>
      <p:sp>
        <p:nvSpPr>
          <p:cNvPr id="11" name="">
            <a:extLst xmlns:a="http://schemas.openxmlformats.org/drawingml/2006/main">
              <a:ext uri="{FF2B5EF4-FFF2-40B4-BE49-F238E27FC236}">
                <a16:creationId xmlns:a16="http://schemas.microsoft.com/office/drawing/2014/main" id="{CCE3C64B-7229-45AF-95CE-3796CCDC0949}"/>
              </a:ext>
            </a:extLst>
          </p:cNvPr>
          <p:cNvSpPr>
            <a:spLocks xmlns:a="http://schemas.openxmlformats.org/drawingml/2006/main" noGrp="1"/>
          </p:cNvSpPr>
          <p:nvPr/>
        </p:nvSpPr>
        <p:spPr>
          <a:xfrm xmlns:a="http://schemas.openxmlformats.org/drawingml/2006/main">
            <a:off x="1143000" y="3648075"/>
            <a:ext cx="3505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0">
                <a:solidFill>
                  <a:srgbClr val="81879E"/>
                </a:solidFill>
                <a:latin typeface="Arial"/>
                <a:ea typeface="Arial"/>
                <a:cs typeface="Arial"/>
              </a:defRPr>
            </a:defPPr>
          </a:lstStyle>
          <a:p xmlns:a="http://schemas.openxmlformats.org/drawingml/2006/main">
            <a:pPr>
              <a:defRPr sz="1725" b="0">
                <a:solidFill>
                  <a:srgbClr val="81879E"/>
                </a:solidFill>
                <a:latin typeface="Arial"/>
                <a:ea typeface="Arial"/>
                <a:cs typeface="Arial"/>
              </a:defRPr>
            </a:pPr>
            <a:r>
              <a:rPr sz="1725" b="0">
                <a:solidFill>
                  <a:srgbClr val="81879E"/>
                </a:solidFill>
                <a:latin typeface="Arial"/>
                <a:ea typeface="Arial"/>
                <a:cs typeface="Arial"/>
              </a:rPr>
              <a:t>Correct dates against the source.</a:t>
            </a:r>
          </a:p>
        </p:txBody>
      </p:sp>
      <p:sp>
        <p:nvSpPr>
          <p:cNvPr id="12" name="">
            <a:extLst xmlns:a="http://schemas.openxmlformats.org/drawingml/2006/main">
              <a:ext uri="{FF2B5EF4-FFF2-40B4-BE49-F238E27FC236}">
                <a16:creationId xmlns:a16="http://schemas.microsoft.com/office/drawing/2014/main" id="{7061513C-1FAD-44F2-9E31-33E59A65D1E3}"/>
              </a:ext>
            </a:extLst>
          </p:cNvPr>
          <p:cNvSpPr>
            <a:spLocks xmlns:a="http://schemas.openxmlformats.org/drawingml/2006/main" noGrp="1"/>
          </p:cNvSpPr>
          <p:nvPr/>
        </p:nvSpPr>
        <p:spPr>
          <a:xfrm xmlns:a="http://schemas.openxmlformats.org/drawingml/2006/main">
            <a:off x="495300" y="4200525"/>
            <a:ext cx="51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1">
                <a:solidFill>
                  <a:srgbClr val="6555D7"/>
                </a:solidFill>
                <a:latin typeface="Arial"/>
                <a:ea typeface="Arial"/>
                <a:cs typeface="Arial"/>
              </a:defRPr>
            </a:defPPr>
          </a:lstStyle>
          <a:p xmlns:a="http://schemas.openxmlformats.org/drawingml/2006/main">
            <a:pPr>
              <a:defRPr sz="1875" b="1">
                <a:solidFill>
                  <a:srgbClr val="6555D7"/>
                </a:solidFill>
                <a:latin typeface="Arial"/>
                <a:ea typeface="Arial"/>
                <a:cs typeface="Arial"/>
              </a:defRPr>
            </a:pPr>
            <a:r>
              <a:rPr sz="1875" b="1">
                <a:solidFill>
                  <a:srgbClr val="6555D7"/>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3BB36489-75EF-4E24-B170-3DBAA3EB7C37}"/>
              </a:ext>
            </a:extLst>
          </p:cNvPr>
          <p:cNvSpPr>
            <a:spLocks xmlns:a="http://schemas.openxmlformats.org/drawingml/2006/main" noGrp="1"/>
          </p:cNvSpPr>
          <p:nvPr/>
        </p:nvSpPr>
        <p:spPr>
          <a:xfrm xmlns:a="http://schemas.openxmlformats.org/drawingml/2006/main">
            <a:off x="1143000" y="4200525"/>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1">
                <a:solidFill>
                  <a:srgbClr val="24283C"/>
                </a:solidFill>
                <a:latin typeface="Arial"/>
                <a:ea typeface="Arial"/>
                <a:cs typeface="Arial"/>
              </a:defRPr>
            </a:defPPr>
          </a:lstStyle>
          <a:p xmlns:a="http://schemas.openxmlformats.org/drawingml/2006/main">
            <a:pPr>
              <a:defRPr sz="2100" b="1">
                <a:solidFill>
                  <a:srgbClr val="24283C"/>
                </a:solidFill>
                <a:latin typeface="Arial"/>
                <a:ea typeface="Arial"/>
                <a:cs typeface="Arial"/>
              </a:defRPr>
            </a:pPr>
            <a:r>
              <a:rPr sz="2100" b="1">
                <a:solidFill>
                  <a:srgbClr val="24283C"/>
                </a:solidFill>
                <a:latin typeface="Arial"/>
                <a:ea typeface="Arial"/>
                <a:cs typeface="Arial"/>
              </a:rPr>
              <a:t>Study plan</a:t>
            </a:r>
          </a:p>
        </p:txBody>
      </p:sp>
      <p:sp>
        <p:nvSpPr>
          <p:cNvPr id="14" name="">
            <a:extLst xmlns:a="http://schemas.openxmlformats.org/drawingml/2006/main">
              <a:ext uri="{FF2B5EF4-FFF2-40B4-BE49-F238E27FC236}">
                <a16:creationId xmlns:a16="http://schemas.microsoft.com/office/drawing/2014/main" id="{C0A15C33-CD19-4BC1-8FF8-89C86A53A0D2}"/>
              </a:ext>
            </a:extLst>
          </p:cNvPr>
          <p:cNvSpPr>
            <a:spLocks xmlns:a="http://schemas.openxmlformats.org/drawingml/2006/main" noGrp="1"/>
          </p:cNvSpPr>
          <p:nvPr/>
        </p:nvSpPr>
        <p:spPr>
          <a:xfrm xmlns:a="http://schemas.openxmlformats.org/drawingml/2006/main">
            <a:off x="1143000" y="4638675"/>
            <a:ext cx="3505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0">
                <a:solidFill>
                  <a:srgbClr val="81879E"/>
                </a:solidFill>
                <a:latin typeface="Arial"/>
                <a:ea typeface="Arial"/>
                <a:cs typeface="Arial"/>
              </a:defRPr>
            </a:defPPr>
          </a:lstStyle>
          <a:p xmlns:a="http://schemas.openxmlformats.org/drawingml/2006/main">
            <a:pPr>
              <a:defRPr sz="1725" b="0">
                <a:solidFill>
                  <a:srgbClr val="81879E"/>
                </a:solidFill>
                <a:latin typeface="Arial"/>
                <a:ea typeface="Arial"/>
                <a:cs typeface="Arial"/>
              </a:defRPr>
            </a:pPr>
            <a:r>
              <a:rPr sz="1725" b="0">
                <a:solidFill>
                  <a:srgbClr val="81879E"/>
                </a:solidFill>
                <a:latin typeface="Arial"/>
                <a:ea typeface="Arial"/>
                <a:cs typeface="Arial"/>
              </a:rPr>
              <a:t>Set hours, preview, then save.</a:t>
            </a:r>
          </a:p>
        </p:txBody>
      </p:sp>
      <p:pic>
        <p:nvPicPr>
          <p:cNvPr id="15" name="">
            <a:extLst xmlns:a="http://schemas.openxmlformats.org/drawingml/2006/main">
              <a:ext uri="{FF2B5EF4-FFF2-40B4-BE49-F238E27FC236}">
                <a16:creationId xmlns:a16="http://schemas.microsoft.com/office/drawing/2014/main" id="{96A69D20-D171-4139-9246-90E3DC6A056B}"/>
              </a:ext>
            </a:extLst>
          </p:cNvPr>
          <p:cNvPicPr>
            <a:picLocks xmlns:a="http://schemas.openxmlformats.org/drawingml/2006/main" noChangeAspect="1"/>
          </p:cNvPicPr>
          <p:nvPr/>
        </p:nvPicPr>
        <p:blipFill>
          <a:blip xmlns:r="http://schemas.openxmlformats.org/officeDocument/2006/relationships" xmlns:a="http://schemas.openxmlformats.org/drawingml/2006/main" r:embed="R2341466b32b84817"/>
          <a:stretch xmlns:a="http://schemas.openxmlformats.org/drawingml/2006/main"/>
        </p:blipFill>
        <p:spPr>
          <a:xfrm xmlns:a="http://schemas.openxmlformats.org/drawingml/2006/main">
            <a:off x="5712664" y="1990725"/>
            <a:ext cx="5329146" cy="4067175"/>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874C7E70-0406-44EF-9259-B3591DACCD0C}"/>
              </a:ext>
            </a:extLst>
          </p:cNvPr>
          <p:cNvSpPr>
            <a:spLocks xmlns:a="http://schemas.openxmlformats.org/drawingml/2006/main" noGrp="1"/>
          </p:cNvSpPr>
          <p:nvPr/>
        </p:nvSpPr>
        <p:spPr>
          <a:xfrm xmlns:a="http://schemas.openxmlformats.org/drawingml/2006/main">
            <a:off x="495300" y="5753100"/>
            <a:ext cx="424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1">
                <a:solidFill>
                  <a:srgbClr val="6555D7"/>
                </a:solidFill>
                <a:latin typeface="Arial"/>
                <a:ea typeface="Arial"/>
                <a:cs typeface="Arial"/>
              </a:defRPr>
            </a:defPPr>
          </a:lstStyle>
          <a:p xmlns:a="http://schemas.openxmlformats.org/drawingml/2006/main">
            <a:pPr>
              <a:defRPr sz="1500" b="1">
                <a:solidFill>
                  <a:srgbClr val="6555D7"/>
                </a:solidFill>
                <a:latin typeface="Arial"/>
                <a:ea typeface="Arial"/>
                <a:cs typeface="Arial"/>
              </a:defRPr>
            </a:pPr>
            <a:r>
              <a:rPr sz="1500" b="1">
                <a:solidFill>
                  <a:srgbClr val="6555D7"/>
                </a:solidFill>
                <a:latin typeface="Arial"/>
                <a:ea typeface="Arial"/>
                <a:cs typeface="Arial"/>
              </a:rPr>
              <a:t>Working frontend prototype with fictional demo data</a:t>
            </a:r>
          </a:p>
        </p:txBody>
      </p:sp>
    </p:spTree>
    <p:extLst>
      <p:ext uri="{BB962C8B-B14F-4D97-AF65-F5344CB8AC3E}">
        <p14:creationId xmlns:p14="http://schemas.microsoft.com/office/powerpoint/2010/main" val="1596502218"/>
      </p:ext>
    </p:extLst>
  </p:cSld>
</p:sld>
</file>

<file path=ppt/slides/slide2.xml><?xml version="1.0" encoding="utf-8"?>
<p:sld xmlns:p="http://schemas.openxmlformats.org/presentationml/2006/main">
  <p:cSld>
    <p:bg>
      <p:bgPr>
        <a:solidFill xmlns:a="http://schemas.openxmlformats.org/drawingml/2006/main">
          <a:srgbClr val="F7F8F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315FF6B-CEC0-485B-9CB7-FB8410665BE8}"/>
              </a:ext>
            </a:extLst>
          </p:cNvPr>
          <p:cNvSpPr>
            <a:spLocks xmlns:a="http://schemas.openxmlformats.org/drawingml/2006/main" noGrp="1"/>
          </p:cNvSpPr>
          <p:nvPr/>
        </p:nvSpPr>
        <p:spPr>
          <a:xfrm xmlns:a="http://schemas.openxmlformats.org/drawingml/2006/main">
            <a:off x="495300" y="266700"/>
            <a:ext cx="11201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050" b="1">
                <a:solidFill>
                  <a:srgbClr val="6555D7"/>
                </a:solidFill>
                <a:latin typeface="Arial"/>
                <a:ea typeface="Arial"/>
                <a:cs typeface="Arial"/>
              </a:defRPr>
            </a:defPPr>
          </a:lstStyle>
          <a:p xmlns:a="http://schemas.openxmlformats.org/drawingml/2006/main">
            <a:pPr>
              <a:defRPr sz="1050" b="1">
                <a:solidFill>
                  <a:srgbClr val="6555D7"/>
                </a:solidFill>
                <a:latin typeface="Arial"/>
                <a:ea typeface="Arial"/>
                <a:cs typeface="Arial"/>
              </a:defRPr>
            </a:pPr>
            <a:r>
              <a:rPr sz="1050" b="1">
                <a:solidFill>
                  <a:srgbClr val="6555D7"/>
                </a:solidFill>
                <a:latin typeface="Arial"/>
                <a:ea typeface="Arial"/>
                <a:cs typeface="Arial"/>
              </a:rPr>
              <a:t>STUDYSPACE   /   STUDENT PRODUCTIVITY AGENT</a:t>
            </a:r>
          </a:p>
        </p:txBody>
      </p:sp>
      <p:sp>
        <p:nvSpPr>
          <p:cNvPr id="2" name="">
            <a:extLst xmlns:a="http://schemas.openxmlformats.org/drawingml/2006/main">
              <a:ext uri="{FF2B5EF4-FFF2-40B4-BE49-F238E27FC236}">
                <a16:creationId xmlns:a16="http://schemas.microsoft.com/office/drawing/2014/main" id="{0AD29E3E-30F4-40F2-9232-DC1162165B72}"/>
              </a:ext>
            </a:extLst>
          </p:cNvPr>
          <p:cNvSpPr>
            <a:spLocks xmlns:a="http://schemas.openxmlformats.org/drawingml/2006/main" noGrp="1"/>
          </p:cNvSpPr>
          <p:nvPr/>
        </p:nvSpPr>
        <p:spPr>
          <a:xfrm xmlns:a="http://schemas.openxmlformats.org/drawingml/2006/main">
            <a:off x="495300" y="762000"/>
            <a:ext cx="11201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300" b="1">
                <a:solidFill>
                  <a:srgbClr val="24283C"/>
                </a:solidFill>
                <a:latin typeface="Arial"/>
                <a:ea typeface="Arial"/>
                <a:cs typeface="Arial"/>
              </a:defRPr>
            </a:defPPr>
          </a:lstStyle>
          <a:p xmlns:a="http://schemas.openxmlformats.org/drawingml/2006/main">
            <a:pPr>
              <a:defRPr sz="3300" b="1">
                <a:solidFill>
                  <a:srgbClr val="24283C"/>
                </a:solidFill>
                <a:latin typeface="Arial"/>
                <a:ea typeface="Arial"/>
                <a:cs typeface="Arial"/>
              </a:defRPr>
            </a:pPr>
            <a:r>
              <a:rPr sz="3300" b="1">
                <a:solidFill>
                  <a:srgbClr val="24283C"/>
                </a:solidFill>
                <a:latin typeface="Arial"/>
                <a:ea typeface="Arial"/>
                <a:cs typeface="Arial"/>
              </a:rPr>
              <a:t>Clear decisions when plans change</a:t>
            </a:r>
          </a:p>
        </p:txBody>
      </p:sp>
      <p:sp>
        <p:nvSpPr>
          <p:cNvPr id="3" name="">
            <a:extLst xmlns:a="http://schemas.openxmlformats.org/drawingml/2006/main">
              <a:ext uri="{FF2B5EF4-FFF2-40B4-BE49-F238E27FC236}">
                <a16:creationId xmlns:a16="http://schemas.microsoft.com/office/drawing/2014/main" id="{2C66C6C5-5799-4600-B514-835C429448F7}"/>
              </a:ext>
            </a:extLst>
          </p:cNvPr>
          <p:cNvSpPr>
            <a:spLocks xmlns:a="http://schemas.openxmlformats.org/drawingml/2006/main" noGrp="1"/>
          </p:cNvSpPr>
          <p:nvPr/>
        </p:nvSpPr>
        <p:spPr>
          <a:xfrm xmlns:a="http://schemas.openxmlformats.org/drawingml/2006/main">
            <a:off x="495300" y="1400175"/>
            <a:ext cx="11201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0">
                <a:solidFill>
                  <a:srgbClr val="81879E"/>
                </a:solidFill>
                <a:latin typeface="Arial"/>
                <a:ea typeface="Arial"/>
                <a:cs typeface="Arial"/>
              </a:defRPr>
            </a:defPPr>
          </a:lstStyle>
          <a:p xmlns:a="http://schemas.openxmlformats.org/drawingml/2006/main">
            <a:pPr>
              <a:defRPr sz="1725" b="0">
                <a:solidFill>
                  <a:srgbClr val="81879E"/>
                </a:solidFill>
                <a:latin typeface="Arial"/>
                <a:ea typeface="Arial"/>
                <a:cs typeface="Arial"/>
              </a:defRPr>
            </a:pPr>
            <a:r>
              <a:rPr sz="1725" b="0">
                <a:solidFill>
                  <a:srgbClr val="81879E"/>
                </a:solidFill>
                <a:latin typeface="Arial"/>
                <a:ea typeface="Arial"/>
                <a:cs typeface="Arial"/>
              </a:rPr>
              <a:t>The UI exposes uncertainty and keeps the previous saved plan safe</a:t>
            </a:r>
          </a:p>
        </p:txBody>
      </p:sp>
      <p:sp>
        <p:nvSpPr>
          <p:cNvPr id="4" name="">
            <a:extLst xmlns:a="http://schemas.openxmlformats.org/drawingml/2006/main">
              <a:ext uri="{FF2B5EF4-FFF2-40B4-BE49-F238E27FC236}">
                <a16:creationId xmlns:a16="http://schemas.microsoft.com/office/drawing/2014/main" id="{45B7F54B-F98A-4A44-A930-FAF52FA340FF}"/>
              </a:ext>
            </a:extLst>
          </p:cNvPr>
          <p:cNvSpPr>
            <a:spLocks xmlns:a="http://schemas.openxmlformats.org/drawingml/2006/main" noGrp="1"/>
          </p:cNvSpPr>
          <p:nvPr/>
        </p:nvSpPr>
        <p:spPr>
          <a:xfrm xmlns:a="http://schemas.openxmlformats.org/drawingml/2006/main">
            <a:off x="495300" y="6448425"/>
            <a:ext cx="1009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050" b="0">
                <a:solidFill>
                  <a:srgbClr val="81879E"/>
                </a:solidFill>
                <a:latin typeface="Arial"/>
                <a:ea typeface="Arial"/>
                <a:cs typeface="Arial"/>
              </a:defRPr>
            </a:defPPr>
          </a:lstStyle>
          <a:p xmlns:a="http://schemas.openxmlformats.org/drawingml/2006/main">
            <a:pPr>
              <a:defRPr sz="1050" b="0">
                <a:solidFill>
                  <a:srgbClr val="81879E"/>
                </a:solidFill>
                <a:latin typeface="Arial"/>
                <a:ea typeface="Arial"/>
                <a:cs typeface="Arial"/>
              </a:defRPr>
            </a:pPr>
            <a:r>
              <a:rPr sz="1050" b="0">
                <a:solidFill>
                  <a:srgbClr val="81879E"/>
                </a:solidFill>
                <a:latin typeface="Arial"/>
                <a:ea typeface="Arial"/>
                <a:cs typeface="Arial"/>
              </a:rPr>
              <a:t>DSS5105 Track 4   /   zhengjunduo   /   Sprint 1</a:t>
            </a:r>
          </a:p>
        </p:txBody>
      </p:sp>
      <p:sp>
        <p:nvSpPr>
          <p:cNvPr id="5" name="">
            <a:extLst xmlns:a="http://schemas.openxmlformats.org/drawingml/2006/main">
              <a:ext uri="{FF2B5EF4-FFF2-40B4-BE49-F238E27FC236}">
                <a16:creationId xmlns:a16="http://schemas.microsoft.com/office/drawing/2014/main" id="{5AFF7162-6653-414A-8E03-84BA0EC01711}"/>
              </a:ext>
            </a:extLst>
          </p:cNvPr>
          <p:cNvSpPr>
            <a:spLocks xmlns:a="http://schemas.openxmlformats.org/drawingml/2006/main" noGrp="1"/>
          </p:cNvSpPr>
          <p:nvPr/>
        </p:nvSpPr>
        <p:spPr>
          <a:xfrm xmlns:a="http://schemas.openxmlformats.org/drawingml/2006/main">
            <a:off x="11163300" y="64484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050" b="0">
                <a:solidFill>
                  <a:srgbClr val="81879E"/>
                </a:solidFill>
                <a:latin typeface="Arial"/>
                <a:ea typeface="Arial"/>
                <a:cs typeface="Arial"/>
              </a:defRPr>
            </a:defPPr>
          </a:lstStyle>
          <a:p xmlns:a="http://schemas.openxmlformats.org/drawingml/2006/main">
            <a:pPr>
              <a:defRPr sz="1050" b="0">
                <a:solidFill>
                  <a:srgbClr val="81879E"/>
                </a:solidFill>
                <a:latin typeface="Arial"/>
                <a:ea typeface="Arial"/>
                <a:cs typeface="Arial"/>
              </a:defRPr>
            </a:pPr>
            <a:r>
              <a:rPr sz="1050" b="0">
                <a:solidFill>
                  <a:srgbClr val="81879E"/>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AF304AE2-4400-4FC8-BAAA-21C1C7D23230}"/>
              </a:ext>
            </a:extLst>
          </p:cNvPr>
          <p:cNvSpPr>
            <a:spLocks xmlns:a="http://schemas.openxmlformats.org/drawingml/2006/main" noGrp="1"/>
          </p:cNvSpPr>
          <p:nvPr/>
        </p:nvSpPr>
        <p:spPr>
          <a:xfrm xmlns:a="http://schemas.openxmlformats.org/drawingml/2006/main">
            <a:off x="495300" y="2152650"/>
            <a:ext cx="447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1">
                <a:solidFill>
                  <a:srgbClr val="6555D7"/>
                </a:solidFill>
                <a:latin typeface="Arial"/>
                <a:ea typeface="Arial"/>
                <a:cs typeface="Arial"/>
              </a:defRPr>
            </a:defPPr>
          </a:lstStyle>
          <a:p xmlns:a="http://schemas.openxmlformats.org/drawingml/2006/main">
            <a:pPr>
              <a:defRPr sz="1875" b="1">
                <a:solidFill>
                  <a:srgbClr val="6555D7"/>
                </a:solidFill>
                <a:latin typeface="Arial"/>
                <a:ea typeface="Arial"/>
                <a:cs typeface="Arial"/>
              </a:defRPr>
            </a:pPr>
            <a:r>
              <a:rPr sz="1875" b="1">
                <a:solidFill>
                  <a:srgbClr val="6555D7"/>
                </a:solidFill>
                <a:latin typeface="Arial"/>
                <a:ea typeface="Arial"/>
                <a:cs typeface="Arial"/>
              </a:rPr>
              <a:t>Unclear or changed dates</a:t>
            </a:r>
          </a:p>
        </p:txBody>
      </p:sp>
      <p:sp>
        <p:nvSpPr>
          <p:cNvPr id="7" name="">
            <a:extLst xmlns:a="http://schemas.openxmlformats.org/drawingml/2006/main">
              <a:ext uri="{FF2B5EF4-FFF2-40B4-BE49-F238E27FC236}">
                <a16:creationId xmlns:a16="http://schemas.microsoft.com/office/drawing/2014/main" id="{6E3839FE-29D6-43BF-B7FC-4E511142C803}"/>
              </a:ext>
            </a:extLst>
          </p:cNvPr>
          <p:cNvSpPr>
            <a:spLocks xmlns:a="http://schemas.openxmlformats.org/drawingml/2006/main" noGrp="1"/>
          </p:cNvSpPr>
          <p:nvPr/>
        </p:nvSpPr>
        <p:spPr>
          <a:xfrm xmlns:a="http://schemas.openxmlformats.org/drawingml/2006/main">
            <a:off x="495300" y="2562225"/>
            <a:ext cx="447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0">
                <a:solidFill>
                  <a:srgbClr val="81879E"/>
                </a:solidFill>
                <a:latin typeface="Arial"/>
                <a:ea typeface="Arial"/>
                <a:cs typeface="Arial"/>
              </a:defRPr>
            </a:defPPr>
          </a:lstStyle>
          <a:p xmlns:a="http://schemas.openxmlformats.org/drawingml/2006/main">
            <a:pPr>
              <a:defRPr sz="1725" b="0">
                <a:solidFill>
                  <a:srgbClr val="81879E"/>
                </a:solidFill>
                <a:latin typeface="Arial"/>
                <a:ea typeface="Arial"/>
                <a:cs typeface="Arial"/>
              </a:defRPr>
            </a:pPr>
            <a:r>
              <a:rPr sz="1725" b="0">
                <a:solidFill>
                  <a:srgbClr val="81879E"/>
                </a:solidFill>
                <a:latin typeface="Arial"/>
                <a:ea typeface="Arial"/>
                <a:cs typeface="Arial"/>
              </a:rPr>
              <a:t>Ask for a date or an explicit choice.</a:t>
            </a:r>
          </a:p>
        </p:txBody>
      </p:sp>
      <p:sp>
        <p:nvSpPr>
          <p:cNvPr id="8" name="">
            <a:extLst xmlns:a="http://schemas.openxmlformats.org/drawingml/2006/main">
              <a:ext uri="{FF2B5EF4-FFF2-40B4-BE49-F238E27FC236}">
                <a16:creationId xmlns:a16="http://schemas.microsoft.com/office/drawing/2014/main" id="{1412A938-EE38-4F93-AABC-DC5FEA7F3FAA}"/>
              </a:ext>
            </a:extLst>
          </p:cNvPr>
          <p:cNvSpPr>
            <a:spLocks xmlns:a="http://schemas.openxmlformats.org/drawingml/2006/main" noGrp="1"/>
          </p:cNvSpPr>
          <p:nvPr/>
        </p:nvSpPr>
        <p:spPr>
          <a:xfrm xmlns:a="http://schemas.openxmlformats.org/drawingml/2006/main">
            <a:off x="495300" y="3133725"/>
            <a:ext cx="447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1">
                <a:solidFill>
                  <a:srgbClr val="6555D7"/>
                </a:solidFill>
                <a:latin typeface="Arial"/>
                <a:ea typeface="Arial"/>
                <a:cs typeface="Arial"/>
              </a:defRPr>
            </a:defPPr>
          </a:lstStyle>
          <a:p xmlns:a="http://schemas.openxmlformats.org/drawingml/2006/main">
            <a:pPr>
              <a:defRPr sz="1875" b="1">
                <a:solidFill>
                  <a:srgbClr val="6555D7"/>
                </a:solidFill>
                <a:latin typeface="Arial"/>
                <a:ea typeface="Arial"/>
                <a:cs typeface="Arial"/>
              </a:defRPr>
            </a:pPr>
            <a:r>
              <a:rPr sz="1875" b="1">
                <a:solidFill>
                  <a:srgbClr val="6555D7"/>
                </a:solidFill>
                <a:latin typeface="Arial"/>
                <a:ea typeface="Arial"/>
                <a:cs typeface="Arial"/>
              </a:rPr>
              <a:t>Too little time</a:t>
            </a:r>
          </a:p>
        </p:txBody>
      </p:sp>
      <p:sp>
        <p:nvSpPr>
          <p:cNvPr id="9" name="">
            <a:extLst xmlns:a="http://schemas.openxmlformats.org/drawingml/2006/main">
              <a:ext uri="{FF2B5EF4-FFF2-40B4-BE49-F238E27FC236}">
                <a16:creationId xmlns:a16="http://schemas.microsoft.com/office/drawing/2014/main" id="{F75FF9A5-3F3C-4663-BF6A-1C54A1CBAEBF}"/>
              </a:ext>
            </a:extLst>
          </p:cNvPr>
          <p:cNvSpPr>
            <a:spLocks xmlns:a="http://schemas.openxmlformats.org/drawingml/2006/main" noGrp="1"/>
          </p:cNvSpPr>
          <p:nvPr/>
        </p:nvSpPr>
        <p:spPr>
          <a:xfrm xmlns:a="http://schemas.openxmlformats.org/drawingml/2006/main">
            <a:off x="495300" y="3543300"/>
            <a:ext cx="447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0">
                <a:solidFill>
                  <a:srgbClr val="81879E"/>
                </a:solidFill>
                <a:latin typeface="Arial"/>
                <a:ea typeface="Arial"/>
                <a:cs typeface="Arial"/>
              </a:defRPr>
            </a:defPPr>
          </a:lstStyle>
          <a:p xmlns:a="http://schemas.openxmlformats.org/drawingml/2006/main">
            <a:pPr>
              <a:defRPr sz="1725" b="0">
                <a:solidFill>
                  <a:srgbClr val="81879E"/>
                </a:solidFill>
                <a:latin typeface="Arial"/>
                <a:ea typeface="Arial"/>
                <a:cs typeface="Arial"/>
              </a:defRPr>
            </a:pPr>
            <a:r>
              <a:rPr sz="1725" b="0">
                <a:solidFill>
                  <a:srgbClr val="81879E"/>
                </a:solidFill>
                <a:latin typeface="Arial"/>
                <a:ea typeface="Arial"/>
                <a:cs typeface="Arial"/>
              </a:rPr>
              <a:t>Show missing hours for each task.</a:t>
            </a:r>
          </a:p>
        </p:txBody>
      </p:sp>
      <p:sp>
        <p:nvSpPr>
          <p:cNvPr id="10" name="">
            <a:extLst xmlns:a="http://schemas.openxmlformats.org/drawingml/2006/main">
              <a:ext uri="{FF2B5EF4-FFF2-40B4-BE49-F238E27FC236}">
                <a16:creationId xmlns:a16="http://schemas.microsoft.com/office/drawing/2014/main" id="{7AFC561A-238D-43B8-BC06-0C7EB6FA49DA}"/>
              </a:ext>
            </a:extLst>
          </p:cNvPr>
          <p:cNvSpPr>
            <a:spLocks xmlns:a="http://schemas.openxmlformats.org/drawingml/2006/main" noGrp="1"/>
          </p:cNvSpPr>
          <p:nvPr/>
        </p:nvSpPr>
        <p:spPr>
          <a:xfrm xmlns:a="http://schemas.openxmlformats.org/drawingml/2006/main">
            <a:off x="495300" y="4114800"/>
            <a:ext cx="447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1">
                <a:solidFill>
                  <a:srgbClr val="6555D7"/>
                </a:solidFill>
                <a:latin typeface="Arial"/>
                <a:ea typeface="Arial"/>
                <a:cs typeface="Arial"/>
              </a:defRPr>
            </a:defPPr>
          </a:lstStyle>
          <a:p xmlns:a="http://schemas.openxmlformats.org/drawingml/2006/main">
            <a:pPr>
              <a:defRPr sz="1875" b="1">
                <a:solidFill>
                  <a:srgbClr val="6555D7"/>
                </a:solidFill>
                <a:latin typeface="Arial"/>
                <a:ea typeface="Arial"/>
                <a:cs typeface="Arial"/>
              </a:defRPr>
            </a:pPr>
            <a:r>
              <a:rPr sz="1875" b="1">
                <a:solidFill>
                  <a:srgbClr val="6555D7"/>
                </a:solidFill>
                <a:latin typeface="Arial"/>
                <a:ea typeface="Arial"/>
                <a:cs typeface="Arial"/>
              </a:rPr>
              <a:t>Progress and re-planning</a:t>
            </a:r>
          </a:p>
        </p:txBody>
      </p:sp>
      <p:sp>
        <p:nvSpPr>
          <p:cNvPr id="11" name="">
            <a:extLst xmlns:a="http://schemas.openxmlformats.org/drawingml/2006/main">
              <a:ext uri="{FF2B5EF4-FFF2-40B4-BE49-F238E27FC236}">
                <a16:creationId xmlns:a16="http://schemas.microsoft.com/office/drawing/2014/main" id="{5F023600-2AC6-4869-9D9A-581E6E33B094}"/>
              </a:ext>
            </a:extLst>
          </p:cNvPr>
          <p:cNvSpPr>
            <a:spLocks xmlns:a="http://schemas.openxmlformats.org/drawingml/2006/main" noGrp="1"/>
          </p:cNvSpPr>
          <p:nvPr/>
        </p:nvSpPr>
        <p:spPr>
          <a:xfrm xmlns:a="http://schemas.openxmlformats.org/drawingml/2006/main">
            <a:off x="495300" y="4524375"/>
            <a:ext cx="447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0">
                <a:solidFill>
                  <a:srgbClr val="81879E"/>
                </a:solidFill>
                <a:latin typeface="Arial"/>
                <a:ea typeface="Arial"/>
                <a:cs typeface="Arial"/>
              </a:defRPr>
            </a:defPPr>
          </a:lstStyle>
          <a:p xmlns:a="http://schemas.openxmlformats.org/drawingml/2006/main">
            <a:pPr>
              <a:defRPr sz="1725" b="0">
                <a:solidFill>
                  <a:srgbClr val="81879E"/>
                </a:solidFill>
                <a:latin typeface="Arial"/>
                <a:ea typeface="Arial"/>
                <a:cs typeface="Arial"/>
              </a:defRPr>
            </a:pPr>
            <a:r>
              <a:rPr sz="1725" b="0">
                <a:solidFill>
                  <a:srgbClr val="81879E"/>
                </a:solidFill>
                <a:latin typeface="Arial"/>
                <a:ea typeface="Arial"/>
                <a:cs typeface="Arial"/>
              </a:rPr>
              <a:t>Record completed work and retain locks.</a:t>
            </a:r>
          </a:p>
        </p:txBody>
      </p:sp>
      <p:pic>
        <p:nvPicPr>
          <p:cNvPr id="12" name="">
            <a:extLst xmlns:a="http://schemas.openxmlformats.org/drawingml/2006/main">
              <a:ext uri="{FF2B5EF4-FFF2-40B4-BE49-F238E27FC236}">
                <a16:creationId xmlns:a16="http://schemas.microsoft.com/office/drawing/2014/main" id="{084E4795-4375-4012-B7CF-4FBBD871D57B}"/>
              </a:ext>
            </a:extLst>
          </p:cNvPr>
          <p:cNvPicPr>
            <a:picLocks xmlns:a="http://schemas.openxmlformats.org/drawingml/2006/main" noChangeAspect="1"/>
          </p:cNvPicPr>
          <p:nvPr/>
        </p:nvPicPr>
        <p:blipFill>
          <a:blip xmlns:r="http://schemas.openxmlformats.org/officeDocument/2006/relationships" xmlns:a="http://schemas.openxmlformats.org/drawingml/2006/main" r:embed="Racfc645ef06547fc"/>
          <a:stretch xmlns:a="http://schemas.openxmlformats.org/drawingml/2006/main"/>
        </p:blipFill>
        <p:spPr>
          <a:xfrm xmlns:a="http://schemas.openxmlformats.org/drawingml/2006/main">
            <a:off x="5555402" y="2047875"/>
            <a:ext cx="5796072" cy="4029075"/>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5D11539F-EDF8-46C2-A09A-8038C868620B}"/>
              </a:ext>
            </a:extLst>
          </p:cNvPr>
          <p:cNvSpPr>
            <a:spLocks xmlns:a="http://schemas.openxmlformats.org/drawingml/2006/main" noGrp="1"/>
          </p:cNvSpPr>
          <p:nvPr/>
        </p:nvSpPr>
        <p:spPr>
          <a:xfrm xmlns:a="http://schemas.openxmlformats.org/drawingml/2006/main">
            <a:off x="495300" y="5781675"/>
            <a:ext cx="1114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1">
                <a:solidFill>
                  <a:srgbClr val="24283C"/>
                </a:solidFill>
                <a:latin typeface="Arial"/>
                <a:ea typeface="Arial"/>
                <a:cs typeface="Arial"/>
              </a:defRPr>
            </a:defPPr>
          </a:lstStyle>
          <a:p xmlns:a="http://schemas.openxmlformats.org/drawingml/2006/main">
            <a:pPr>
              <a:defRPr sz="1725" b="1">
                <a:solidFill>
                  <a:srgbClr val="24283C"/>
                </a:solidFill>
                <a:latin typeface="Arial"/>
                <a:ea typeface="Arial"/>
                <a:cs typeface="Arial"/>
              </a:defRPr>
            </a:pPr>
            <a:r>
              <a:rPr sz="1725" b="1">
                <a:solidFill>
                  <a:srgbClr val="24283C"/>
                </a:solidFill>
                <a:latin typeface="Arial"/>
                <a:ea typeface="Arial"/>
                <a:cs typeface="Arial"/>
              </a:rPr>
              <a:t>Next: connect AI extraction and shared backend services</a:t>
            </a:r>
          </a:p>
        </p:txBody>
      </p:sp>
    </p:spTree>
    <p:extLst>
      <p:ext uri="{BB962C8B-B14F-4D97-AF65-F5344CB8AC3E}">
        <p14:creationId xmlns:p14="http://schemas.microsoft.com/office/powerpoint/2010/main" val="1621248944"/>
      </p:ext>
    </p:extLst>
  </p:cSld>
</p:sld>
</file>

<file path=ppt/slides/slide3.xml><?xml version="1.0" encoding="utf-8"?>
<p:sld xmlns:p="http://schemas.openxmlformats.org/presentationml/2006/main">
  <p:cSld>
    <p:bg>
      <p:bgPr>
        <a:solidFill xmlns:a="http://schemas.openxmlformats.org/drawingml/2006/main">
          <a:srgbClr val="F7F8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7538BD4-BE80-481D-ABF7-B5C3ED431736}"/>
              </a:ext>
            </a:extLst>
          </p:cNvPr>
          <p:cNvSpPr>
            <a:spLocks xmlns:a="http://schemas.openxmlformats.org/drawingml/2006/main" noGrp="1"/>
          </p:cNvSpPr>
          <p:nvPr/>
        </p:nvSpPr>
        <p:spPr>
          <a:xfrm xmlns:a="http://schemas.openxmlformats.org/drawingml/2006/main">
            <a:off x="495300" y="266700"/>
            <a:ext cx="11201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050" b="1">
                <a:solidFill>
                  <a:srgbClr val="6555D7"/>
                </a:solidFill>
                <a:latin typeface="Arial"/>
                <a:ea typeface="Arial"/>
                <a:cs typeface="Arial"/>
              </a:defRPr>
            </a:defPPr>
          </a:lstStyle>
          <a:p xmlns:a="http://schemas.openxmlformats.org/drawingml/2006/main">
            <a:pPr>
              <a:defRPr sz="1050" b="1">
                <a:solidFill>
                  <a:srgbClr val="6555D7"/>
                </a:solidFill>
                <a:latin typeface="Arial"/>
                <a:ea typeface="Arial"/>
                <a:cs typeface="Arial"/>
              </a:defRPr>
            </a:pPr>
            <a:r>
              <a:rPr sz="1050" b="1">
                <a:solidFill>
                  <a:srgbClr val="6555D7"/>
                </a:solidFill>
                <a:latin typeface="Arial"/>
                <a:ea typeface="Arial"/>
                <a:cs typeface="Arial"/>
              </a:rPr>
              <a:t>STUDYSPACE   /   STUDENT PRODUCTIVITY AGENT</a:t>
            </a:r>
          </a:p>
        </p:txBody>
      </p:sp>
      <p:sp>
        <p:nvSpPr>
          <p:cNvPr id="2" name="">
            <a:extLst xmlns:a="http://schemas.openxmlformats.org/drawingml/2006/main">
              <a:ext uri="{FF2B5EF4-FFF2-40B4-BE49-F238E27FC236}">
                <a16:creationId xmlns:a16="http://schemas.microsoft.com/office/drawing/2014/main" id="{534ED3F4-9AC6-4765-9176-311D37E8ECB7}"/>
              </a:ext>
            </a:extLst>
          </p:cNvPr>
          <p:cNvSpPr>
            <a:spLocks xmlns:a="http://schemas.openxmlformats.org/drawingml/2006/main" noGrp="1"/>
          </p:cNvSpPr>
          <p:nvPr/>
        </p:nvSpPr>
        <p:spPr>
          <a:xfrm xmlns:a="http://schemas.openxmlformats.org/drawingml/2006/main">
            <a:off x="495300" y="762000"/>
            <a:ext cx="11201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300" b="1">
                <a:solidFill>
                  <a:srgbClr val="24283C"/>
                </a:solidFill>
                <a:latin typeface="Arial"/>
                <a:ea typeface="Arial"/>
                <a:cs typeface="Arial"/>
              </a:defRPr>
            </a:defPPr>
          </a:lstStyle>
          <a:p xmlns:a="http://schemas.openxmlformats.org/drawingml/2006/main">
            <a:pPr>
              <a:defRPr sz="3300" b="1">
                <a:solidFill>
                  <a:srgbClr val="24283C"/>
                </a:solidFill>
                <a:latin typeface="Arial"/>
                <a:ea typeface="Arial"/>
                <a:cs typeface="Arial"/>
              </a:defRPr>
            </a:pPr>
            <a:r>
              <a:rPr sz="3300" b="1">
                <a:solidFill>
                  <a:srgbClr val="24283C"/>
                </a:solidFill>
                <a:latin typeface="Arial"/>
                <a:ea typeface="Arial"/>
                <a:cs typeface="Arial"/>
              </a:rPr>
              <a:t>Input messages</a:t>
            </a:r>
          </a:p>
        </p:txBody>
      </p:sp>
      <p:sp>
        <p:nvSpPr>
          <p:cNvPr id="3" name="">
            <a:extLst xmlns:a="http://schemas.openxmlformats.org/drawingml/2006/main">
              <a:ext uri="{FF2B5EF4-FFF2-40B4-BE49-F238E27FC236}">
                <a16:creationId xmlns:a16="http://schemas.microsoft.com/office/drawing/2014/main" id="{6AB6649C-1FA8-41D1-95FC-7A016209486A}"/>
              </a:ext>
            </a:extLst>
          </p:cNvPr>
          <p:cNvSpPr>
            <a:spLocks xmlns:a="http://schemas.openxmlformats.org/drawingml/2006/main" noGrp="1"/>
          </p:cNvSpPr>
          <p:nvPr/>
        </p:nvSpPr>
        <p:spPr>
          <a:xfrm xmlns:a="http://schemas.openxmlformats.org/drawingml/2006/main">
            <a:off x="495300" y="1400175"/>
            <a:ext cx="11201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0">
                <a:solidFill>
                  <a:srgbClr val="81879E"/>
                </a:solidFill>
                <a:latin typeface="Arial"/>
                <a:ea typeface="Arial"/>
                <a:cs typeface="Arial"/>
              </a:defRPr>
            </a:defPPr>
          </a:lstStyle>
          <a:p xmlns:a="http://schemas.openxmlformats.org/drawingml/2006/main">
            <a:pPr>
              <a:defRPr sz="1725" b="0">
                <a:solidFill>
                  <a:srgbClr val="81879E"/>
                </a:solidFill>
                <a:latin typeface="Arial"/>
                <a:ea typeface="Arial"/>
                <a:cs typeface="Arial"/>
              </a:defRPr>
            </a:pPr>
            <a:r>
              <a:rPr sz="1725" b="0">
                <a:solidFill>
                  <a:srgbClr val="81879E"/>
                </a:solidFill>
                <a:latin typeface="Arial"/>
                <a:ea typeface="Arial"/>
                <a:cs typeface="Arial"/>
              </a:rPr>
              <a:t>Paste text or import sources without leaving the workflow</a:t>
            </a:r>
          </a:p>
        </p:txBody>
      </p:sp>
      <p:sp>
        <p:nvSpPr>
          <p:cNvPr id="4" name="">
            <a:extLst xmlns:a="http://schemas.openxmlformats.org/drawingml/2006/main">
              <a:ext uri="{FF2B5EF4-FFF2-40B4-BE49-F238E27FC236}">
                <a16:creationId xmlns:a16="http://schemas.microsoft.com/office/drawing/2014/main" id="{00A92439-8316-441A-AF8D-1D901DA0C44B}"/>
              </a:ext>
            </a:extLst>
          </p:cNvPr>
          <p:cNvSpPr>
            <a:spLocks xmlns:a="http://schemas.openxmlformats.org/drawingml/2006/main" noGrp="1"/>
          </p:cNvSpPr>
          <p:nvPr/>
        </p:nvSpPr>
        <p:spPr>
          <a:xfrm xmlns:a="http://schemas.openxmlformats.org/drawingml/2006/main">
            <a:off x="495300" y="6448425"/>
            <a:ext cx="1009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050" b="0">
                <a:solidFill>
                  <a:srgbClr val="81879E"/>
                </a:solidFill>
                <a:latin typeface="Arial"/>
                <a:ea typeface="Arial"/>
                <a:cs typeface="Arial"/>
              </a:defRPr>
            </a:defPPr>
          </a:lstStyle>
          <a:p xmlns:a="http://schemas.openxmlformats.org/drawingml/2006/main">
            <a:pPr>
              <a:defRPr sz="1050" b="0">
                <a:solidFill>
                  <a:srgbClr val="81879E"/>
                </a:solidFill>
                <a:latin typeface="Arial"/>
                <a:ea typeface="Arial"/>
                <a:cs typeface="Arial"/>
              </a:defRPr>
            </a:pPr>
            <a:r>
              <a:rPr sz="1050" b="0">
                <a:solidFill>
                  <a:srgbClr val="81879E"/>
                </a:solidFill>
                <a:latin typeface="Arial"/>
                <a:ea typeface="Arial"/>
                <a:cs typeface="Arial"/>
              </a:rPr>
              <a:t>DSS5105 Track 4   /   zhengjunduo   /   Sprint 1</a:t>
            </a:r>
          </a:p>
        </p:txBody>
      </p:sp>
      <p:sp>
        <p:nvSpPr>
          <p:cNvPr id="5" name="">
            <a:extLst xmlns:a="http://schemas.openxmlformats.org/drawingml/2006/main">
              <a:ext uri="{FF2B5EF4-FFF2-40B4-BE49-F238E27FC236}">
                <a16:creationId xmlns:a16="http://schemas.microsoft.com/office/drawing/2014/main" id="{4EA76AF8-32EA-4AD1-BD3F-F4F49206FFED}"/>
              </a:ext>
            </a:extLst>
          </p:cNvPr>
          <p:cNvSpPr>
            <a:spLocks xmlns:a="http://schemas.openxmlformats.org/drawingml/2006/main" noGrp="1"/>
          </p:cNvSpPr>
          <p:nvPr/>
        </p:nvSpPr>
        <p:spPr>
          <a:xfrm xmlns:a="http://schemas.openxmlformats.org/drawingml/2006/main">
            <a:off x="11163300" y="64484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050" b="0">
                <a:solidFill>
                  <a:srgbClr val="81879E"/>
                </a:solidFill>
                <a:latin typeface="Arial"/>
                <a:ea typeface="Arial"/>
                <a:cs typeface="Arial"/>
              </a:defRPr>
            </a:defPPr>
          </a:lstStyle>
          <a:p xmlns:a="http://schemas.openxmlformats.org/drawingml/2006/main">
            <a:pPr>
              <a:defRPr sz="1050" b="0">
                <a:solidFill>
                  <a:srgbClr val="81879E"/>
                </a:solidFill>
                <a:latin typeface="Arial"/>
                <a:ea typeface="Arial"/>
                <a:cs typeface="Arial"/>
              </a:defRPr>
            </a:pPr>
            <a:r>
              <a:rPr sz="1050" b="0">
                <a:solidFill>
                  <a:srgbClr val="81879E"/>
                </a:solidFill>
                <a:latin typeface="Arial"/>
                <a:ea typeface="Arial"/>
                <a:cs typeface="Arial"/>
              </a:rPr>
              <a:t>A1</a:t>
            </a:r>
          </a:p>
        </p:txBody>
      </p:sp>
      <p:pic>
        <p:nvPicPr>
          <p:cNvPr id="6" name="">
            <a:extLst xmlns:a="http://schemas.openxmlformats.org/drawingml/2006/main">
              <a:ext uri="{FF2B5EF4-FFF2-40B4-BE49-F238E27FC236}">
                <a16:creationId xmlns:a16="http://schemas.microsoft.com/office/drawing/2014/main" id="{C778FE12-AECE-4A41-8F6E-C73FD68E0AC5}"/>
              </a:ext>
            </a:extLst>
          </p:cNvPr>
          <p:cNvPicPr>
            <a:picLocks xmlns:a="http://schemas.openxmlformats.org/drawingml/2006/main" noChangeAspect="1"/>
          </p:cNvPicPr>
          <p:nvPr/>
        </p:nvPicPr>
        <p:blipFill>
          <a:blip xmlns:r="http://schemas.openxmlformats.org/officeDocument/2006/relationships" xmlns:a="http://schemas.openxmlformats.org/drawingml/2006/main" r:embed="Rd4adffd3e0014f11"/>
          <a:stretch xmlns:a="http://schemas.openxmlformats.org/drawingml/2006/main"/>
        </p:blipFill>
        <p:spPr>
          <a:xfrm xmlns:a="http://schemas.openxmlformats.org/drawingml/2006/main">
            <a:off x="2838450" y="1885950"/>
            <a:ext cx="6515100" cy="4343400"/>
          </a:xfrm>
          <a:prstGeom xmlns:a="http://schemas.openxmlformats.org/drawingml/2006/main" prst="rect">
            <a:avLst/>
          </a:prstGeom>
        </p:spPr>
      </p:pic>
    </p:spTree>
    <p:extLst>
      <p:ext uri="{BB962C8B-B14F-4D97-AF65-F5344CB8AC3E}">
        <p14:creationId xmlns:p14="http://schemas.microsoft.com/office/powerpoint/2010/main" val="281671774"/>
      </p:ext>
    </p:extLst>
  </p:cSld>
</p:sld>
</file>

<file path=ppt/slides/slide4.xml><?xml version="1.0" encoding="utf-8"?>
<p:sld xmlns:p="http://schemas.openxmlformats.org/presentationml/2006/main">
  <p:cSld>
    <p:bg>
      <p:bgPr>
        <a:solidFill xmlns:a="http://schemas.openxmlformats.org/drawingml/2006/main">
          <a:srgbClr val="F7F8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78CE302-E3C6-49E2-98E9-65CBC9914DAF}"/>
              </a:ext>
            </a:extLst>
          </p:cNvPr>
          <p:cNvSpPr>
            <a:spLocks xmlns:a="http://schemas.openxmlformats.org/drawingml/2006/main" noGrp="1"/>
          </p:cNvSpPr>
          <p:nvPr/>
        </p:nvSpPr>
        <p:spPr>
          <a:xfrm xmlns:a="http://schemas.openxmlformats.org/drawingml/2006/main">
            <a:off x="495300" y="266700"/>
            <a:ext cx="11201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050" b="1">
                <a:solidFill>
                  <a:srgbClr val="6555D7"/>
                </a:solidFill>
                <a:latin typeface="Arial"/>
                <a:ea typeface="Arial"/>
                <a:cs typeface="Arial"/>
              </a:defRPr>
            </a:defPPr>
          </a:lstStyle>
          <a:p xmlns:a="http://schemas.openxmlformats.org/drawingml/2006/main">
            <a:pPr>
              <a:defRPr sz="1050" b="1">
                <a:solidFill>
                  <a:srgbClr val="6555D7"/>
                </a:solidFill>
                <a:latin typeface="Arial"/>
                <a:ea typeface="Arial"/>
                <a:cs typeface="Arial"/>
              </a:defRPr>
            </a:pPr>
            <a:r>
              <a:rPr sz="1050" b="1">
                <a:solidFill>
                  <a:srgbClr val="6555D7"/>
                </a:solidFill>
                <a:latin typeface="Arial"/>
                <a:ea typeface="Arial"/>
                <a:cs typeface="Arial"/>
              </a:rPr>
              <a:t>STUDYSPACE   /   STUDENT PRODUCTIVITY AGENT</a:t>
            </a:r>
          </a:p>
        </p:txBody>
      </p:sp>
      <p:sp>
        <p:nvSpPr>
          <p:cNvPr id="2" name="">
            <a:extLst xmlns:a="http://schemas.openxmlformats.org/drawingml/2006/main">
              <a:ext uri="{FF2B5EF4-FFF2-40B4-BE49-F238E27FC236}">
                <a16:creationId xmlns:a16="http://schemas.microsoft.com/office/drawing/2014/main" id="{3FEF195B-17B4-4F63-8B57-2F16B02070F2}"/>
              </a:ext>
            </a:extLst>
          </p:cNvPr>
          <p:cNvSpPr>
            <a:spLocks xmlns:a="http://schemas.openxmlformats.org/drawingml/2006/main" noGrp="1"/>
          </p:cNvSpPr>
          <p:nvPr/>
        </p:nvSpPr>
        <p:spPr>
          <a:xfrm xmlns:a="http://schemas.openxmlformats.org/drawingml/2006/main">
            <a:off x="495300" y="762000"/>
            <a:ext cx="11201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300" b="1">
                <a:solidFill>
                  <a:srgbClr val="24283C"/>
                </a:solidFill>
                <a:latin typeface="Arial"/>
                <a:ea typeface="Arial"/>
                <a:cs typeface="Arial"/>
              </a:defRPr>
            </a:defPPr>
          </a:lstStyle>
          <a:p xmlns:a="http://schemas.openxmlformats.org/drawingml/2006/main">
            <a:pPr>
              <a:defRPr sz="3300" b="1">
                <a:solidFill>
                  <a:srgbClr val="24283C"/>
                </a:solidFill>
                <a:latin typeface="Arial"/>
                <a:ea typeface="Arial"/>
                <a:cs typeface="Arial"/>
              </a:defRPr>
            </a:pPr>
            <a:r>
              <a:rPr sz="3300" b="1">
                <a:solidFill>
                  <a:srgbClr val="24283C"/>
                </a:solidFill>
                <a:latin typeface="Arial"/>
                <a:ea typeface="Arial"/>
                <a:cs typeface="Arial"/>
              </a:rPr>
              <a:t>Review and confirm</a:t>
            </a:r>
          </a:p>
        </p:txBody>
      </p:sp>
      <p:sp>
        <p:nvSpPr>
          <p:cNvPr id="3" name="">
            <a:extLst xmlns:a="http://schemas.openxmlformats.org/drawingml/2006/main">
              <a:ext uri="{FF2B5EF4-FFF2-40B4-BE49-F238E27FC236}">
                <a16:creationId xmlns:a16="http://schemas.microsoft.com/office/drawing/2014/main" id="{8C103644-EA23-47A2-BB49-5D8B6526258F}"/>
              </a:ext>
            </a:extLst>
          </p:cNvPr>
          <p:cNvSpPr>
            <a:spLocks xmlns:a="http://schemas.openxmlformats.org/drawingml/2006/main" noGrp="1"/>
          </p:cNvSpPr>
          <p:nvPr/>
        </p:nvSpPr>
        <p:spPr>
          <a:xfrm xmlns:a="http://schemas.openxmlformats.org/drawingml/2006/main">
            <a:off x="495300" y="1400175"/>
            <a:ext cx="11201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0">
                <a:solidFill>
                  <a:srgbClr val="81879E"/>
                </a:solidFill>
                <a:latin typeface="Arial"/>
                <a:ea typeface="Arial"/>
                <a:cs typeface="Arial"/>
              </a:defRPr>
            </a:defPPr>
          </a:lstStyle>
          <a:p xmlns:a="http://schemas.openxmlformats.org/drawingml/2006/main">
            <a:pPr>
              <a:defRPr sz="1725" b="0">
                <a:solidFill>
                  <a:srgbClr val="81879E"/>
                </a:solidFill>
                <a:latin typeface="Arial"/>
                <a:ea typeface="Arial"/>
                <a:cs typeface="Arial"/>
              </a:defRPr>
            </a:pPr>
            <a:r>
              <a:rPr sz="1725" b="0">
                <a:solidFill>
                  <a:srgbClr val="81879E"/>
                </a:solidFill>
                <a:latin typeface="Arial"/>
                <a:ea typeface="Arial"/>
                <a:cs typeface="Arial"/>
              </a:rPr>
              <a:t>Editable tasks with source evidence and explicit confirmation</a:t>
            </a:r>
          </a:p>
        </p:txBody>
      </p:sp>
      <p:sp>
        <p:nvSpPr>
          <p:cNvPr id="4" name="">
            <a:extLst xmlns:a="http://schemas.openxmlformats.org/drawingml/2006/main">
              <a:ext uri="{FF2B5EF4-FFF2-40B4-BE49-F238E27FC236}">
                <a16:creationId xmlns:a16="http://schemas.microsoft.com/office/drawing/2014/main" id="{5839AD6A-AAA5-4417-8626-7FE3575262FC}"/>
              </a:ext>
            </a:extLst>
          </p:cNvPr>
          <p:cNvSpPr>
            <a:spLocks xmlns:a="http://schemas.openxmlformats.org/drawingml/2006/main" noGrp="1"/>
          </p:cNvSpPr>
          <p:nvPr/>
        </p:nvSpPr>
        <p:spPr>
          <a:xfrm xmlns:a="http://schemas.openxmlformats.org/drawingml/2006/main">
            <a:off x="495300" y="6448425"/>
            <a:ext cx="1009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050" b="0">
                <a:solidFill>
                  <a:srgbClr val="81879E"/>
                </a:solidFill>
                <a:latin typeface="Arial"/>
                <a:ea typeface="Arial"/>
                <a:cs typeface="Arial"/>
              </a:defRPr>
            </a:defPPr>
          </a:lstStyle>
          <a:p xmlns:a="http://schemas.openxmlformats.org/drawingml/2006/main">
            <a:pPr>
              <a:defRPr sz="1050" b="0">
                <a:solidFill>
                  <a:srgbClr val="81879E"/>
                </a:solidFill>
                <a:latin typeface="Arial"/>
                <a:ea typeface="Arial"/>
                <a:cs typeface="Arial"/>
              </a:defRPr>
            </a:pPr>
            <a:r>
              <a:rPr sz="1050" b="0">
                <a:solidFill>
                  <a:srgbClr val="81879E"/>
                </a:solidFill>
                <a:latin typeface="Arial"/>
                <a:ea typeface="Arial"/>
                <a:cs typeface="Arial"/>
              </a:rPr>
              <a:t>DSS5105 Track 4   /   zhengjunduo   /   Sprint 1</a:t>
            </a:r>
          </a:p>
        </p:txBody>
      </p:sp>
      <p:sp>
        <p:nvSpPr>
          <p:cNvPr id="5" name="">
            <a:extLst xmlns:a="http://schemas.openxmlformats.org/drawingml/2006/main">
              <a:ext uri="{FF2B5EF4-FFF2-40B4-BE49-F238E27FC236}">
                <a16:creationId xmlns:a16="http://schemas.microsoft.com/office/drawing/2014/main" id="{E7061F64-F637-41DD-9AE3-888B85301CC9}"/>
              </a:ext>
            </a:extLst>
          </p:cNvPr>
          <p:cNvSpPr>
            <a:spLocks xmlns:a="http://schemas.openxmlformats.org/drawingml/2006/main" noGrp="1"/>
          </p:cNvSpPr>
          <p:nvPr/>
        </p:nvSpPr>
        <p:spPr>
          <a:xfrm xmlns:a="http://schemas.openxmlformats.org/drawingml/2006/main">
            <a:off x="11163300" y="64484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050" b="0">
                <a:solidFill>
                  <a:srgbClr val="81879E"/>
                </a:solidFill>
                <a:latin typeface="Arial"/>
                <a:ea typeface="Arial"/>
                <a:cs typeface="Arial"/>
              </a:defRPr>
            </a:defPPr>
          </a:lstStyle>
          <a:p xmlns:a="http://schemas.openxmlformats.org/drawingml/2006/main">
            <a:pPr>
              <a:defRPr sz="1050" b="0">
                <a:solidFill>
                  <a:srgbClr val="81879E"/>
                </a:solidFill>
                <a:latin typeface="Arial"/>
                <a:ea typeface="Arial"/>
                <a:cs typeface="Arial"/>
              </a:defRPr>
            </a:pPr>
            <a:r>
              <a:rPr sz="1050" b="0">
                <a:solidFill>
                  <a:srgbClr val="81879E"/>
                </a:solidFill>
                <a:latin typeface="Arial"/>
                <a:ea typeface="Arial"/>
                <a:cs typeface="Arial"/>
              </a:rPr>
              <a:t>A2</a:t>
            </a:r>
          </a:p>
        </p:txBody>
      </p:sp>
      <p:pic>
        <p:nvPicPr>
          <p:cNvPr id="6" name="">
            <a:extLst xmlns:a="http://schemas.openxmlformats.org/drawingml/2006/main">
              <a:ext uri="{FF2B5EF4-FFF2-40B4-BE49-F238E27FC236}">
                <a16:creationId xmlns:a16="http://schemas.microsoft.com/office/drawing/2014/main" id="{939D290E-E9FB-4DCB-80F5-5684CD4333F2}"/>
              </a:ext>
            </a:extLst>
          </p:cNvPr>
          <p:cNvPicPr>
            <a:picLocks xmlns:a="http://schemas.openxmlformats.org/drawingml/2006/main" noChangeAspect="1"/>
          </p:cNvPicPr>
          <p:nvPr/>
        </p:nvPicPr>
        <p:blipFill>
          <a:blip xmlns:r="http://schemas.openxmlformats.org/officeDocument/2006/relationships" xmlns:a="http://schemas.openxmlformats.org/drawingml/2006/main" r:embed="R5b9d0418c4e94a62"/>
          <a:stretch xmlns:a="http://schemas.openxmlformats.org/drawingml/2006/main"/>
        </p:blipFill>
        <p:spPr>
          <a:xfrm xmlns:a="http://schemas.openxmlformats.org/drawingml/2006/main">
            <a:off x="2838450" y="1885950"/>
            <a:ext cx="6515100" cy="4343400"/>
          </a:xfrm>
          <a:prstGeom xmlns:a="http://schemas.openxmlformats.org/drawingml/2006/main" prst="rect">
            <a:avLst/>
          </a:prstGeom>
        </p:spPr>
      </p:pic>
    </p:spTree>
    <p:extLst>
      <p:ext uri="{BB962C8B-B14F-4D97-AF65-F5344CB8AC3E}">
        <p14:creationId xmlns:p14="http://schemas.microsoft.com/office/powerpoint/2010/main" val="96160491"/>
      </p:ext>
    </p:extLst>
  </p:cSld>
</p:sld>
</file>

<file path=ppt/slides/slide5.xml><?xml version="1.0" encoding="utf-8"?>
<p:sld xmlns:p="http://schemas.openxmlformats.org/presentationml/2006/main">
  <p:cSld>
    <p:bg>
      <p:bgPr>
        <a:solidFill xmlns:a="http://schemas.openxmlformats.org/drawingml/2006/main">
          <a:srgbClr val="F7F8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9FA48BB-86C0-4D4D-8E83-AF7CCB8C68D3}"/>
              </a:ext>
            </a:extLst>
          </p:cNvPr>
          <p:cNvSpPr>
            <a:spLocks xmlns:a="http://schemas.openxmlformats.org/drawingml/2006/main" noGrp="1"/>
          </p:cNvSpPr>
          <p:nvPr/>
        </p:nvSpPr>
        <p:spPr>
          <a:xfrm xmlns:a="http://schemas.openxmlformats.org/drawingml/2006/main">
            <a:off x="495300" y="266700"/>
            <a:ext cx="11201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050" b="1">
                <a:solidFill>
                  <a:srgbClr val="6555D7"/>
                </a:solidFill>
                <a:latin typeface="Arial"/>
                <a:ea typeface="Arial"/>
                <a:cs typeface="Arial"/>
              </a:defRPr>
            </a:defPPr>
          </a:lstStyle>
          <a:p xmlns:a="http://schemas.openxmlformats.org/drawingml/2006/main">
            <a:pPr>
              <a:defRPr sz="1050" b="1">
                <a:solidFill>
                  <a:srgbClr val="6555D7"/>
                </a:solidFill>
                <a:latin typeface="Arial"/>
                <a:ea typeface="Arial"/>
                <a:cs typeface="Arial"/>
              </a:defRPr>
            </a:pPr>
            <a:r>
              <a:rPr sz="1050" b="1">
                <a:solidFill>
                  <a:srgbClr val="6555D7"/>
                </a:solidFill>
                <a:latin typeface="Arial"/>
                <a:ea typeface="Arial"/>
                <a:cs typeface="Arial"/>
              </a:rPr>
              <a:t>STUDYSPACE   /   STUDENT PRODUCTIVITY AGENT</a:t>
            </a:r>
          </a:p>
        </p:txBody>
      </p:sp>
      <p:sp>
        <p:nvSpPr>
          <p:cNvPr id="2" name="">
            <a:extLst xmlns:a="http://schemas.openxmlformats.org/drawingml/2006/main">
              <a:ext uri="{FF2B5EF4-FFF2-40B4-BE49-F238E27FC236}">
                <a16:creationId xmlns:a16="http://schemas.microsoft.com/office/drawing/2014/main" id="{1D38030D-AA17-4BBE-81F1-25CFF26A60B8}"/>
              </a:ext>
            </a:extLst>
          </p:cNvPr>
          <p:cNvSpPr>
            <a:spLocks xmlns:a="http://schemas.openxmlformats.org/drawingml/2006/main" noGrp="1"/>
          </p:cNvSpPr>
          <p:nvPr/>
        </p:nvSpPr>
        <p:spPr>
          <a:xfrm xmlns:a="http://schemas.openxmlformats.org/drawingml/2006/main">
            <a:off x="495300" y="762000"/>
            <a:ext cx="11201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300" b="1">
                <a:solidFill>
                  <a:srgbClr val="24283C"/>
                </a:solidFill>
                <a:latin typeface="Arial"/>
                <a:ea typeface="Arial"/>
                <a:cs typeface="Arial"/>
              </a:defRPr>
            </a:defPPr>
          </a:lstStyle>
          <a:p xmlns:a="http://schemas.openxmlformats.org/drawingml/2006/main">
            <a:pPr>
              <a:defRPr sz="3300" b="1">
                <a:solidFill>
                  <a:srgbClr val="24283C"/>
                </a:solidFill>
                <a:latin typeface="Arial"/>
                <a:ea typeface="Arial"/>
                <a:cs typeface="Arial"/>
              </a:defRPr>
            </a:pPr>
            <a:r>
              <a:rPr sz="3300" b="1">
                <a:solidFill>
                  <a:srgbClr val="24283C"/>
                </a:solidFill>
                <a:latin typeface="Arial"/>
                <a:ea typeface="Arial"/>
                <a:cs typeface="Arial"/>
              </a:rPr>
              <a:t>Study plan</a:t>
            </a:r>
          </a:p>
        </p:txBody>
      </p:sp>
      <p:sp>
        <p:nvSpPr>
          <p:cNvPr id="3" name="">
            <a:extLst xmlns:a="http://schemas.openxmlformats.org/drawingml/2006/main">
              <a:ext uri="{FF2B5EF4-FFF2-40B4-BE49-F238E27FC236}">
                <a16:creationId xmlns:a16="http://schemas.microsoft.com/office/drawing/2014/main" id="{2F46DB88-8635-4D64-8791-B942E80EB89C}"/>
              </a:ext>
            </a:extLst>
          </p:cNvPr>
          <p:cNvSpPr>
            <a:spLocks xmlns:a="http://schemas.openxmlformats.org/drawingml/2006/main" noGrp="1"/>
          </p:cNvSpPr>
          <p:nvPr/>
        </p:nvSpPr>
        <p:spPr>
          <a:xfrm xmlns:a="http://schemas.openxmlformats.org/drawingml/2006/main">
            <a:off x="495300" y="1400175"/>
            <a:ext cx="11201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0">
                <a:solidFill>
                  <a:srgbClr val="81879E"/>
                </a:solidFill>
                <a:latin typeface="Arial"/>
                <a:ea typeface="Arial"/>
                <a:cs typeface="Arial"/>
              </a:defRPr>
            </a:defPPr>
          </a:lstStyle>
          <a:p xmlns:a="http://schemas.openxmlformats.org/drawingml/2006/main">
            <a:pPr>
              <a:defRPr sz="1725" b="0">
                <a:solidFill>
                  <a:srgbClr val="81879E"/>
                </a:solidFill>
                <a:latin typeface="Arial"/>
                <a:ea typeface="Arial"/>
                <a:cs typeface="Arial"/>
              </a:defRPr>
            </a:pPr>
            <a:r>
              <a:rPr sz="1725" b="0">
                <a:solidFill>
                  <a:srgbClr val="81879E"/>
                </a:solidFill>
                <a:latin typeface="Arial"/>
                <a:ea typeface="Arial"/>
                <a:cs typeface="Arial"/>
              </a:rPr>
              <a:t>Available hours, visible shortages, locks, progress and local saving</a:t>
            </a:r>
          </a:p>
        </p:txBody>
      </p:sp>
      <p:sp>
        <p:nvSpPr>
          <p:cNvPr id="4" name="">
            <a:extLst xmlns:a="http://schemas.openxmlformats.org/drawingml/2006/main">
              <a:ext uri="{FF2B5EF4-FFF2-40B4-BE49-F238E27FC236}">
                <a16:creationId xmlns:a16="http://schemas.microsoft.com/office/drawing/2014/main" id="{057CF323-DE07-473C-972B-F033479C77B5}"/>
              </a:ext>
            </a:extLst>
          </p:cNvPr>
          <p:cNvSpPr>
            <a:spLocks xmlns:a="http://schemas.openxmlformats.org/drawingml/2006/main" noGrp="1"/>
          </p:cNvSpPr>
          <p:nvPr/>
        </p:nvSpPr>
        <p:spPr>
          <a:xfrm xmlns:a="http://schemas.openxmlformats.org/drawingml/2006/main">
            <a:off x="495300" y="6448425"/>
            <a:ext cx="1009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050" b="0">
                <a:solidFill>
                  <a:srgbClr val="81879E"/>
                </a:solidFill>
                <a:latin typeface="Arial"/>
                <a:ea typeface="Arial"/>
                <a:cs typeface="Arial"/>
              </a:defRPr>
            </a:defPPr>
          </a:lstStyle>
          <a:p xmlns:a="http://schemas.openxmlformats.org/drawingml/2006/main">
            <a:pPr>
              <a:defRPr sz="1050" b="0">
                <a:solidFill>
                  <a:srgbClr val="81879E"/>
                </a:solidFill>
                <a:latin typeface="Arial"/>
                <a:ea typeface="Arial"/>
                <a:cs typeface="Arial"/>
              </a:defRPr>
            </a:pPr>
            <a:r>
              <a:rPr sz="1050" b="0">
                <a:solidFill>
                  <a:srgbClr val="81879E"/>
                </a:solidFill>
                <a:latin typeface="Arial"/>
                <a:ea typeface="Arial"/>
                <a:cs typeface="Arial"/>
              </a:rPr>
              <a:t>DSS5105 Track 4   /   zhengjunduo   /   Sprint 1</a:t>
            </a:r>
          </a:p>
        </p:txBody>
      </p:sp>
      <p:sp>
        <p:nvSpPr>
          <p:cNvPr id="5" name="">
            <a:extLst xmlns:a="http://schemas.openxmlformats.org/drawingml/2006/main">
              <a:ext uri="{FF2B5EF4-FFF2-40B4-BE49-F238E27FC236}">
                <a16:creationId xmlns:a16="http://schemas.microsoft.com/office/drawing/2014/main" id="{73F15625-CC39-424C-83FF-3093BD38A9E6}"/>
              </a:ext>
            </a:extLst>
          </p:cNvPr>
          <p:cNvSpPr>
            <a:spLocks xmlns:a="http://schemas.openxmlformats.org/drawingml/2006/main" noGrp="1"/>
          </p:cNvSpPr>
          <p:nvPr/>
        </p:nvSpPr>
        <p:spPr>
          <a:xfrm xmlns:a="http://schemas.openxmlformats.org/drawingml/2006/main">
            <a:off x="11163300" y="64484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050" b="0">
                <a:solidFill>
                  <a:srgbClr val="81879E"/>
                </a:solidFill>
                <a:latin typeface="Arial"/>
                <a:ea typeface="Arial"/>
                <a:cs typeface="Arial"/>
              </a:defRPr>
            </a:defPPr>
          </a:lstStyle>
          <a:p xmlns:a="http://schemas.openxmlformats.org/drawingml/2006/main">
            <a:pPr>
              <a:defRPr sz="1050" b="0">
                <a:solidFill>
                  <a:srgbClr val="81879E"/>
                </a:solidFill>
                <a:latin typeface="Arial"/>
                <a:ea typeface="Arial"/>
                <a:cs typeface="Arial"/>
              </a:defRPr>
            </a:pPr>
            <a:r>
              <a:rPr sz="1050" b="0">
                <a:solidFill>
                  <a:srgbClr val="81879E"/>
                </a:solidFill>
                <a:latin typeface="Arial"/>
                <a:ea typeface="Arial"/>
                <a:cs typeface="Arial"/>
              </a:rPr>
              <a:t>A3</a:t>
            </a:r>
          </a:p>
        </p:txBody>
      </p:sp>
      <p:pic>
        <p:nvPicPr>
          <p:cNvPr id="6" name="">
            <a:extLst xmlns:a="http://schemas.openxmlformats.org/drawingml/2006/main">
              <a:ext uri="{FF2B5EF4-FFF2-40B4-BE49-F238E27FC236}">
                <a16:creationId xmlns:a16="http://schemas.microsoft.com/office/drawing/2014/main" id="{B54FCA0D-0FA8-4D21-AD12-CCFD3D61A005}"/>
              </a:ext>
            </a:extLst>
          </p:cNvPr>
          <p:cNvPicPr>
            <a:picLocks xmlns:a="http://schemas.openxmlformats.org/drawingml/2006/main" noChangeAspect="1"/>
          </p:cNvPicPr>
          <p:nvPr/>
        </p:nvPicPr>
        <p:blipFill>
          <a:blip xmlns:r="http://schemas.openxmlformats.org/officeDocument/2006/relationships" xmlns:a="http://schemas.openxmlformats.org/drawingml/2006/main" r:embed="R606a928e2625408e"/>
          <a:stretch xmlns:a="http://schemas.openxmlformats.org/drawingml/2006/main"/>
        </p:blipFill>
        <p:spPr>
          <a:xfrm xmlns:a="http://schemas.openxmlformats.org/drawingml/2006/main">
            <a:off x="3250460" y="1885950"/>
            <a:ext cx="5691079" cy="4343400"/>
          </a:xfrm>
          <a:prstGeom xmlns:a="http://schemas.openxmlformats.org/drawingml/2006/main" prst="rect">
            <a:avLst/>
          </a:prstGeom>
        </p:spPr>
      </p:pic>
    </p:spTree>
    <p:extLst>
      <p:ext uri="{BB962C8B-B14F-4D97-AF65-F5344CB8AC3E}">
        <p14:creationId xmlns:p14="http://schemas.microsoft.com/office/powerpoint/2010/main" val="20410818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2026-10-13T12:59:31.9110000Z</dcterms:created>
  <dcterms:modified xsi:type="dcterms:W3CDTF">2026-10-13T12:59:31.9110000Z</dcterms:modified>
</coreProperties>
</file>